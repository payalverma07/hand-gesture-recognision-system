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70" r:id="rId9"/>
    <p:sldId id="263" r:id="rId10"/>
    <p:sldId id="265" r:id="rId11"/>
    <p:sldId id="266" r:id="rId12"/>
    <p:sldId id="267" r:id="rId13"/>
    <p:sldId id="268" r:id="rId14"/>
  </p:sldIdLst>
  <p:sldSz cx="9144000" cy="6858000" type="screen4x3"/>
  <p:notesSz cx="9144000" cy="6858000"/>
  <p:embeddedFontLst>
    <p:embeddedFont>
      <p:font typeface="Century Schoolbook" panose="02040604050505020304" pitchFamily="18" charset="0"/>
      <p:regular r:id="rId16"/>
      <p:bold r:id="rId17"/>
      <p:italic r:id="rId18"/>
      <p:boldItalic r:id="rId19"/>
    </p:embeddedFont>
    <p:embeddedFont>
      <p:font typeface="Calibri" panose="020F0502020204030204" pitchFamily="34" charset="0"/>
      <p:regular r:id="rId20"/>
      <p:bold r:id="rId21"/>
      <p:italic r:id="rId22"/>
      <p:boldItalic r:id="rId2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4" roundtripDataSignature="AMtx7mguATwLBPAuOsgfyrv/xwC2db7Ua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CB3F4C0-F2E8-4320-A34B-0B094AA10944}">
  <a:tblStyle styleId="{6CB3F4C0-F2E8-4320-A34B-0B094AA10944}"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2" d="100"/>
          <a:sy n="82" d="100"/>
        </p:scale>
        <p:origin x="1474" y="62"/>
      </p:cViewPr>
      <p:guideLst>
        <p:guide orient="horz" pos="2880"/>
        <p:guide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font" Target="fonts/font6.fntdata"/><Relationship Id="rId34"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35"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524300" y="514350"/>
            <a:ext cx="60963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
        <p:cNvGrpSpPr/>
        <p:nvPr/>
      </p:nvGrpSpPr>
      <p:grpSpPr>
        <a:xfrm>
          <a:off x="0" y="0"/>
          <a:ext cx="0" cy="0"/>
          <a:chOff x="0" y="0"/>
          <a:chExt cx="0" cy="0"/>
        </a:xfrm>
      </p:grpSpPr>
      <p:sp>
        <p:nvSpPr>
          <p:cNvPr id="43" name="Google Shape;43;p2: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4" name="Google Shape;44;p2: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g5cc8714c89_0_4: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4" name="Google Shape;54;g5cc8714c89_0_4: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p4: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3" name="Google Shape;63;p4: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6: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3" name="Google Shape;73;p6: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8: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4" name="Google Shape;84;p8: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9: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7" name="Google Shape;97;p9: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7: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6" name="Google Shape;106;p7: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10: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5" name="Google Shape;175;p10: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12: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5" name="Google Shape;115;p12: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14: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2" name="Google Shape;132;p14: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g5cc8714c89_2_35: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1" name="Google Shape;141;g5cc8714c89_2_35: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16: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0" name="Google Shape;150;p16: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17: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8" name="Google Shape;158;p17: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4"/>
        <p:cNvGrpSpPr/>
        <p:nvPr/>
      </p:nvGrpSpPr>
      <p:grpSpPr>
        <a:xfrm>
          <a:off x="0" y="0"/>
          <a:ext cx="0" cy="0"/>
          <a:chOff x="0" y="0"/>
          <a:chExt cx="0" cy="0"/>
        </a:xfrm>
      </p:grpSpPr>
      <p:sp>
        <p:nvSpPr>
          <p:cNvPr id="15" name="Google Shape;15;p28"/>
          <p:cNvSpPr txBox="1">
            <a:spLocks noGrp="1"/>
          </p:cNvSpPr>
          <p:nvPr>
            <p:ph type="title"/>
          </p:nvPr>
        </p:nvSpPr>
        <p:spPr>
          <a:xfrm>
            <a:off x="1753870" y="482930"/>
            <a:ext cx="5636259" cy="69723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4400" b="1" i="0">
                <a:solidFill>
                  <a:schemeClr val="hlink"/>
                </a:solidFill>
                <a:latin typeface="Century Schoolbook"/>
                <a:ea typeface="Century Schoolbook"/>
                <a:cs typeface="Century Schoolbook"/>
                <a:sym typeface="Century Schoolbook"/>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28"/>
          <p:cNvSpPr txBox="1">
            <a:spLocks noGrp="1"/>
          </p:cNvSpPr>
          <p:nvPr>
            <p:ph type="body" idx="1"/>
          </p:nvPr>
        </p:nvSpPr>
        <p:spPr>
          <a:xfrm>
            <a:off x="535940" y="1570180"/>
            <a:ext cx="8073390" cy="3409315"/>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sz="2400" b="0" i="0">
                <a:solidFill>
                  <a:schemeClr val="dk1"/>
                </a:solidFill>
                <a:latin typeface="Century Schoolbook"/>
                <a:ea typeface="Century Schoolbook"/>
                <a:cs typeface="Century Schoolbook"/>
                <a:sym typeface="Century Schoolbook"/>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7" name="Google Shape;17;p28"/>
          <p:cNvSpPr txBox="1">
            <a:spLocks noGrp="1"/>
          </p:cNvSpPr>
          <p:nvPr>
            <p:ph type="ftr" idx="11"/>
          </p:nvPr>
        </p:nvSpPr>
        <p:spPr>
          <a:xfrm>
            <a:off x="1379347" y="5917197"/>
            <a:ext cx="7220584" cy="768984"/>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1800" b="1" i="0">
                <a:solidFill>
                  <a:srgbClr val="00006C"/>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28"/>
          <p:cNvSpPr txBox="1">
            <a:spLocks noGrp="1"/>
          </p:cNvSpPr>
          <p:nvPr>
            <p:ph type="dt" idx="10"/>
          </p:nvPr>
        </p:nvSpPr>
        <p:spPr>
          <a:xfrm>
            <a:off x="457200" y="6377940"/>
            <a:ext cx="210312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8"/>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20"/>
        <p:cNvGrpSpPr/>
        <p:nvPr/>
      </p:nvGrpSpPr>
      <p:grpSpPr>
        <a:xfrm>
          <a:off x="0" y="0"/>
          <a:ext cx="0" cy="0"/>
          <a:chOff x="0" y="0"/>
          <a:chExt cx="0" cy="0"/>
        </a:xfrm>
      </p:grpSpPr>
      <p:sp>
        <p:nvSpPr>
          <p:cNvPr id="21" name="Google Shape;21;p29"/>
          <p:cNvSpPr txBox="1">
            <a:spLocks noGrp="1"/>
          </p:cNvSpPr>
          <p:nvPr>
            <p:ph type="ctrTitle"/>
          </p:nvPr>
        </p:nvSpPr>
        <p:spPr>
          <a:xfrm>
            <a:off x="803554" y="214706"/>
            <a:ext cx="7536891" cy="12446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4000" b="1" i="0">
                <a:solidFill>
                  <a:schemeClr val="hlink"/>
                </a:solidFill>
                <a:latin typeface="Century Schoolbook"/>
                <a:ea typeface="Century Schoolbook"/>
                <a:cs typeface="Century Schoolbook"/>
                <a:sym typeface="Century Schoolbook"/>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29"/>
          <p:cNvSpPr txBox="1">
            <a:spLocks noGrp="1"/>
          </p:cNvSpPr>
          <p:nvPr>
            <p:ph type="subTitle" idx="1"/>
          </p:nvPr>
        </p:nvSpPr>
        <p:spPr>
          <a:xfrm>
            <a:off x="1371600" y="3840480"/>
            <a:ext cx="6400800" cy="17145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29"/>
          <p:cNvSpPr txBox="1">
            <a:spLocks noGrp="1"/>
          </p:cNvSpPr>
          <p:nvPr>
            <p:ph type="ftr" idx="11"/>
          </p:nvPr>
        </p:nvSpPr>
        <p:spPr>
          <a:xfrm>
            <a:off x="1379347" y="5917197"/>
            <a:ext cx="7220584" cy="768984"/>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1800" b="1" i="0">
                <a:solidFill>
                  <a:srgbClr val="00006C"/>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29"/>
          <p:cNvSpPr txBox="1">
            <a:spLocks noGrp="1"/>
          </p:cNvSpPr>
          <p:nvPr>
            <p:ph type="dt" idx="10"/>
          </p:nvPr>
        </p:nvSpPr>
        <p:spPr>
          <a:xfrm>
            <a:off x="457200" y="6377940"/>
            <a:ext cx="210312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9"/>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26"/>
        <p:cNvGrpSpPr/>
        <p:nvPr/>
      </p:nvGrpSpPr>
      <p:grpSpPr>
        <a:xfrm>
          <a:off x="0" y="0"/>
          <a:ext cx="0" cy="0"/>
          <a:chOff x="0" y="0"/>
          <a:chExt cx="0" cy="0"/>
        </a:xfrm>
      </p:grpSpPr>
      <p:sp>
        <p:nvSpPr>
          <p:cNvPr id="27" name="Google Shape;27;p30"/>
          <p:cNvSpPr txBox="1">
            <a:spLocks noGrp="1"/>
          </p:cNvSpPr>
          <p:nvPr>
            <p:ph type="title"/>
          </p:nvPr>
        </p:nvSpPr>
        <p:spPr>
          <a:xfrm>
            <a:off x="1753870" y="482930"/>
            <a:ext cx="5636259" cy="69723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4400" b="1" i="0">
                <a:solidFill>
                  <a:schemeClr val="hlink"/>
                </a:solidFill>
                <a:latin typeface="Century Schoolbook"/>
                <a:ea typeface="Century Schoolbook"/>
                <a:cs typeface="Century Schoolbook"/>
                <a:sym typeface="Century Schoolbook"/>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30"/>
          <p:cNvSpPr txBox="1">
            <a:spLocks noGrp="1"/>
          </p:cNvSpPr>
          <p:nvPr>
            <p:ph type="ftr" idx="11"/>
          </p:nvPr>
        </p:nvSpPr>
        <p:spPr>
          <a:xfrm>
            <a:off x="1379347" y="5917197"/>
            <a:ext cx="7220584" cy="768984"/>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1800" b="1" i="0">
                <a:solidFill>
                  <a:srgbClr val="00006C"/>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30"/>
          <p:cNvSpPr txBox="1">
            <a:spLocks noGrp="1"/>
          </p:cNvSpPr>
          <p:nvPr>
            <p:ph type="dt" idx="10"/>
          </p:nvPr>
        </p:nvSpPr>
        <p:spPr>
          <a:xfrm>
            <a:off x="457200" y="6377940"/>
            <a:ext cx="210312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30"/>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31"/>
        <p:cNvGrpSpPr/>
        <p:nvPr/>
      </p:nvGrpSpPr>
      <p:grpSpPr>
        <a:xfrm>
          <a:off x="0" y="0"/>
          <a:ext cx="0" cy="0"/>
          <a:chOff x="0" y="0"/>
          <a:chExt cx="0" cy="0"/>
        </a:xfrm>
      </p:grpSpPr>
      <p:sp>
        <p:nvSpPr>
          <p:cNvPr id="32" name="Google Shape;32;p31"/>
          <p:cNvSpPr txBox="1">
            <a:spLocks noGrp="1"/>
          </p:cNvSpPr>
          <p:nvPr>
            <p:ph type="ftr" idx="11"/>
          </p:nvPr>
        </p:nvSpPr>
        <p:spPr>
          <a:xfrm>
            <a:off x="1379347" y="5917197"/>
            <a:ext cx="7220584" cy="768984"/>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1800" b="1" i="0">
                <a:solidFill>
                  <a:srgbClr val="00006C"/>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31"/>
          <p:cNvSpPr txBox="1">
            <a:spLocks noGrp="1"/>
          </p:cNvSpPr>
          <p:nvPr>
            <p:ph type="dt" idx="10"/>
          </p:nvPr>
        </p:nvSpPr>
        <p:spPr>
          <a:xfrm>
            <a:off x="457200" y="6377940"/>
            <a:ext cx="210312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31"/>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35"/>
        <p:cNvGrpSpPr/>
        <p:nvPr/>
      </p:nvGrpSpPr>
      <p:grpSpPr>
        <a:xfrm>
          <a:off x="0" y="0"/>
          <a:ext cx="0" cy="0"/>
          <a:chOff x="0" y="0"/>
          <a:chExt cx="0" cy="0"/>
        </a:xfrm>
      </p:grpSpPr>
      <p:sp>
        <p:nvSpPr>
          <p:cNvPr id="36" name="Google Shape;36;p32"/>
          <p:cNvSpPr txBox="1">
            <a:spLocks noGrp="1"/>
          </p:cNvSpPr>
          <p:nvPr>
            <p:ph type="title"/>
          </p:nvPr>
        </p:nvSpPr>
        <p:spPr>
          <a:xfrm>
            <a:off x="1753870" y="482930"/>
            <a:ext cx="5636259" cy="69723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4400" b="1" i="0">
                <a:solidFill>
                  <a:schemeClr val="hlink"/>
                </a:solidFill>
                <a:latin typeface="Century Schoolbook"/>
                <a:ea typeface="Century Schoolbook"/>
                <a:cs typeface="Century Schoolbook"/>
                <a:sym typeface="Century Schoolbook"/>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32"/>
          <p:cNvSpPr txBox="1">
            <a:spLocks noGrp="1"/>
          </p:cNvSpPr>
          <p:nvPr>
            <p:ph type="body" idx="1"/>
          </p:nvPr>
        </p:nvSpPr>
        <p:spPr>
          <a:xfrm>
            <a:off x="457200" y="1577340"/>
            <a:ext cx="3977640" cy="452628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38" name="Google Shape;38;p32"/>
          <p:cNvSpPr txBox="1">
            <a:spLocks noGrp="1"/>
          </p:cNvSpPr>
          <p:nvPr>
            <p:ph type="body" idx="2"/>
          </p:nvPr>
        </p:nvSpPr>
        <p:spPr>
          <a:xfrm>
            <a:off x="4709160" y="1577340"/>
            <a:ext cx="3977640" cy="452628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39" name="Google Shape;39;p32"/>
          <p:cNvSpPr txBox="1">
            <a:spLocks noGrp="1"/>
          </p:cNvSpPr>
          <p:nvPr>
            <p:ph type="ftr" idx="11"/>
          </p:nvPr>
        </p:nvSpPr>
        <p:spPr>
          <a:xfrm>
            <a:off x="1379347" y="5917197"/>
            <a:ext cx="7220584" cy="768984"/>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1800" b="1" i="0">
                <a:solidFill>
                  <a:srgbClr val="00006C"/>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32"/>
          <p:cNvSpPr txBox="1">
            <a:spLocks noGrp="1"/>
          </p:cNvSpPr>
          <p:nvPr>
            <p:ph type="dt" idx="10"/>
          </p:nvPr>
        </p:nvSpPr>
        <p:spPr>
          <a:xfrm>
            <a:off x="457200" y="6377940"/>
            <a:ext cx="210312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32"/>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7"/>
          <p:cNvSpPr/>
          <p:nvPr/>
        </p:nvSpPr>
        <p:spPr>
          <a:xfrm>
            <a:off x="0" y="5816578"/>
            <a:ext cx="1062142" cy="1041418"/>
          </a:xfrm>
          <a:prstGeom prst="rect">
            <a:avLst/>
          </a:prstGeom>
          <a:blipFill rotWithShape="1">
            <a:blip r:embed="rId7">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7" name="Google Shape;7;p27"/>
          <p:cNvSpPr/>
          <p:nvPr/>
        </p:nvSpPr>
        <p:spPr>
          <a:xfrm>
            <a:off x="0" y="5638800"/>
            <a:ext cx="9144000" cy="152400"/>
          </a:xfrm>
          <a:custGeom>
            <a:avLst/>
            <a:gdLst/>
            <a:ahLst/>
            <a:cxnLst/>
            <a:rect l="l" t="t" r="r" b="b"/>
            <a:pathLst>
              <a:path w="9144000" h="152400" extrusionOk="0">
                <a:moveTo>
                  <a:pt x="0" y="152400"/>
                </a:moveTo>
                <a:lnTo>
                  <a:pt x="9144000" y="152400"/>
                </a:lnTo>
                <a:lnTo>
                  <a:pt x="9144000" y="0"/>
                </a:lnTo>
                <a:lnTo>
                  <a:pt x="0" y="0"/>
                </a:lnTo>
                <a:lnTo>
                  <a:pt x="0" y="152400"/>
                </a:lnTo>
                <a:close/>
              </a:path>
            </a:pathLst>
          </a:custGeom>
          <a:solidFill>
            <a:srgbClr val="00006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 name="Google Shape;8;p27"/>
          <p:cNvSpPr/>
          <p:nvPr/>
        </p:nvSpPr>
        <p:spPr>
          <a:xfrm>
            <a:off x="0" y="5638800"/>
            <a:ext cx="9144000" cy="152400"/>
          </a:xfrm>
          <a:custGeom>
            <a:avLst/>
            <a:gdLst/>
            <a:ahLst/>
            <a:cxnLst/>
            <a:rect l="l" t="t" r="r" b="b"/>
            <a:pathLst>
              <a:path w="9144000" h="152400" extrusionOk="0">
                <a:moveTo>
                  <a:pt x="0" y="152400"/>
                </a:moveTo>
                <a:lnTo>
                  <a:pt x="9144000" y="152400"/>
                </a:lnTo>
                <a:lnTo>
                  <a:pt x="9144000" y="0"/>
                </a:lnTo>
                <a:lnTo>
                  <a:pt x="0" y="0"/>
                </a:lnTo>
                <a:lnTo>
                  <a:pt x="0" y="152400"/>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9" name="Google Shape;9;p27"/>
          <p:cNvSpPr txBox="1">
            <a:spLocks noGrp="1"/>
          </p:cNvSpPr>
          <p:nvPr>
            <p:ph type="title"/>
          </p:nvPr>
        </p:nvSpPr>
        <p:spPr>
          <a:xfrm>
            <a:off x="1753870" y="482930"/>
            <a:ext cx="5636259" cy="69723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4400" b="1" i="0" u="none" strike="noStrike" cap="none">
                <a:solidFill>
                  <a:schemeClr val="hlink"/>
                </a:solidFill>
                <a:latin typeface="Century Schoolbook"/>
                <a:ea typeface="Century Schoolbook"/>
                <a:cs typeface="Century Schoolbook"/>
                <a:sym typeface="Century Schoolbook"/>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0" name="Google Shape;10;p27"/>
          <p:cNvSpPr txBox="1">
            <a:spLocks noGrp="1"/>
          </p:cNvSpPr>
          <p:nvPr>
            <p:ph type="body" idx="1"/>
          </p:nvPr>
        </p:nvSpPr>
        <p:spPr>
          <a:xfrm>
            <a:off x="535940" y="1570180"/>
            <a:ext cx="8073390" cy="3409315"/>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Century Schoolbook"/>
                <a:ea typeface="Century Schoolbook"/>
                <a:cs typeface="Century Schoolbook"/>
                <a:sym typeface="Century Schoolbook"/>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9pPr>
          </a:lstStyle>
          <a:p>
            <a:endParaRPr/>
          </a:p>
        </p:txBody>
      </p:sp>
      <p:sp>
        <p:nvSpPr>
          <p:cNvPr id="11" name="Google Shape;11;p27"/>
          <p:cNvSpPr txBox="1">
            <a:spLocks noGrp="1"/>
          </p:cNvSpPr>
          <p:nvPr>
            <p:ph type="ftr" idx="11"/>
          </p:nvPr>
        </p:nvSpPr>
        <p:spPr>
          <a:xfrm>
            <a:off x="1379347" y="5917197"/>
            <a:ext cx="7220584" cy="768984"/>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800" b="1" i="0" u="none" strike="noStrike" cap="none">
                <a:solidFill>
                  <a:srgbClr val="00006C"/>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2" name="Google Shape;12;p27"/>
          <p:cNvSpPr txBox="1">
            <a:spLocks noGrp="1"/>
          </p:cNvSpPr>
          <p:nvPr>
            <p:ph type="dt" idx="10"/>
          </p:nvPr>
        </p:nvSpPr>
        <p:spPr>
          <a:xfrm>
            <a:off x="457200" y="6377940"/>
            <a:ext cx="2103120" cy="3429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27"/>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lvl1pPr marL="0" marR="0" lvl="0"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4.jpg"/><Relationship Id="rId4" Type="http://schemas.openxmlformats.org/officeDocument/2006/relationships/image" Target="../media/image3.jp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5"/>
        <p:cNvGrpSpPr/>
        <p:nvPr/>
      </p:nvGrpSpPr>
      <p:grpSpPr>
        <a:xfrm>
          <a:off x="0" y="0"/>
          <a:ext cx="0" cy="0"/>
          <a:chOff x="0" y="0"/>
          <a:chExt cx="0" cy="0"/>
        </a:xfrm>
      </p:grpSpPr>
      <p:sp>
        <p:nvSpPr>
          <p:cNvPr id="46" name="Google Shape;46;p2"/>
          <p:cNvSpPr txBox="1"/>
          <p:nvPr/>
        </p:nvSpPr>
        <p:spPr>
          <a:xfrm>
            <a:off x="1280160" y="5943053"/>
            <a:ext cx="7496601" cy="672897"/>
          </a:xfrm>
          <a:prstGeom prst="rect">
            <a:avLst/>
          </a:prstGeom>
          <a:noFill/>
          <a:ln>
            <a:noFill/>
          </a:ln>
        </p:spPr>
        <p:txBody>
          <a:bodyPr spcFirstLastPara="1" wrap="square" lIns="0" tIns="12700" rIns="0" bIns="0" anchor="t" anchorCtr="0">
            <a:noAutofit/>
          </a:bodyPr>
          <a:lstStyle/>
          <a:p>
            <a:pPr marL="12700" marR="0" lvl="0" indent="0" algn="ctr" rtl="0">
              <a:lnSpc>
                <a:spcPct val="100000"/>
              </a:lnSpc>
              <a:spcBef>
                <a:spcPts val="0"/>
              </a:spcBef>
              <a:spcAft>
                <a:spcPts val="0"/>
              </a:spcAft>
              <a:buClr>
                <a:srgbClr val="000000"/>
              </a:buClr>
              <a:buSzPts val="1800"/>
              <a:buFont typeface="Arial"/>
              <a:buNone/>
            </a:pPr>
            <a:r>
              <a:rPr lang="en-US" sz="1800" b="1" i="1" u="none" strike="noStrike" cap="none">
                <a:solidFill>
                  <a:srgbClr val="C00000"/>
                </a:solidFill>
                <a:latin typeface="Times New Roman" panose="02020603050405020304" pitchFamily="18" charset="0"/>
                <a:ea typeface="Times New Roman"/>
                <a:cs typeface="Times New Roman" panose="02020603050405020304" pitchFamily="18" charset="0"/>
                <a:sym typeface="Times New Roman"/>
              </a:rPr>
              <a:t>Department of Computer Science &amp; Engineering, MITSoC, Loni Kalbhor</a:t>
            </a:r>
            <a:endParaRPr sz="1800" b="1" i="1" u="none" strike="noStrike" cap="none">
              <a:solidFill>
                <a:srgbClr val="C00000"/>
              </a:solidFill>
              <a:latin typeface="Times New Roman" panose="02020603050405020304" pitchFamily="18" charset="0"/>
              <a:ea typeface="Times New Roman"/>
              <a:cs typeface="Times New Roman" panose="02020603050405020304" pitchFamily="18" charset="0"/>
              <a:sym typeface="Times New Roman"/>
            </a:endParaRPr>
          </a:p>
        </p:txBody>
      </p:sp>
      <p:sp>
        <p:nvSpPr>
          <p:cNvPr id="47" name="Google Shape;47;p2"/>
          <p:cNvSpPr/>
          <p:nvPr/>
        </p:nvSpPr>
        <p:spPr>
          <a:xfrm>
            <a:off x="2514600" y="3840480"/>
            <a:ext cx="3733800" cy="338700"/>
          </a:xfrm>
          <a:prstGeom prst="rect">
            <a:avLst/>
          </a:prstGeom>
          <a:noFill/>
          <a:ln>
            <a:noFill/>
          </a:ln>
        </p:spPr>
        <p:txBody>
          <a:bodyPr spcFirstLastPara="1" wrap="square" lIns="91425" tIns="45700" rIns="91425" bIns="45700" anchor="t" anchorCtr="0">
            <a:noAutofit/>
          </a:bodyPr>
          <a:lstStyle/>
          <a:p>
            <a:pPr marL="639762" marR="0" lvl="0" indent="-519112"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48" name="Google Shape;48;p2"/>
          <p:cNvSpPr txBox="1">
            <a:spLocks noGrp="1"/>
          </p:cNvSpPr>
          <p:nvPr>
            <p:ph type="title"/>
          </p:nvPr>
        </p:nvSpPr>
        <p:spPr>
          <a:xfrm>
            <a:off x="267300" y="1951900"/>
            <a:ext cx="8609400" cy="1107996"/>
          </a:xfrm>
          <a:prstGeom prst="rect">
            <a:avLst/>
          </a:prstGeom>
          <a:noFill/>
          <a:ln>
            <a:noFill/>
          </a:ln>
        </p:spPr>
        <p:txBody>
          <a:bodyPr spcFirstLastPara="1" wrap="square" lIns="0" tIns="0" rIns="0" bIns="0" anchor="t" anchorCtr="0">
            <a:spAutoFit/>
          </a:bodyPr>
          <a:lstStyle/>
          <a:p>
            <a:pPr lvl="0" algn="ctr"/>
            <a:r>
              <a:rPr lang="en-US" sz="3600" dirty="0">
                <a:solidFill>
                  <a:srgbClr val="073763"/>
                </a:solidFill>
                <a:latin typeface="Times New Roman" panose="02020603050405020304" pitchFamily="18" charset="0"/>
                <a:ea typeface="Times New Roman"/>
                <a:cs typeface="Times New Roman" panose="02020603050405020304" pitchFamily="18" charset="0"/>
                <a:sym typeface="Times New Roman"/>
              </a:rPr>
              <a:t>" HAND-GESTURE-PRESENTATION-SYSTEM”</a:t>
            </a:r>
            <a:endParaRPr dirty="0">
              <a:solidFill>
                <a:srgbClr val="073763"/>
              </a:solidFill>
              <a:latin typeface="Times New Roman" panose="02020603050405020304" pitchFamily="18" charset="0"/>
              <a:ea typeface="Times New Roman"/>
              <a:cs typeface="Times New Roman" panose="02020603050405020304" pitchFamily="18" charset="0"/>
              <a:sym typeface="Times New Roman"/>
            </a:endParaRPr>
          </a:p>
        </p:txBody>
      </p:sp>
      <p:sp>
        <p:nvSpPr>
          <p:cNvPr id="49" name="Google Shape;49;p2"/>
          <p:cNvSpPr txBox="1"/>
          <p:nvPr/>
        </p:nvSpPr>
        <p:spPr>
          <a:xfrm>
            <a:off x="822787" y="3387039"/>
            <a:ext cx="7496700" cy="15696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600" b="1" dirty="0">
                <a:latin typeface="Times New Roman" panose="02020603050405020304" pitchFamily="18" charset="0"/>
                <a:ea typeface="Times New Roman"/>
                <a:cs typeface="Times New Roman" panose="02020603050405020304" pitchFamily="18" charset="0"/>
                <a:sym typeface="Times New Roman"/>
              </a:rPr>
              <a:t>ADT23SOCB0716:- Payal Verma</a:t>
            </a:r>
            <a:endParaRPr sz="1600" b="1" dirty="0">
              <a:latin typeface="Times New Roman" panose="02020603050405020304" pitchFamily="18" charset="0"/>
              <a:ea typeface="Times New Roman"/>
              <a:cs typeface="Times New Roman" panose="02020603050405020304" pitchFamily="18" charset="0"/>
              <a:sym typeface="Times New Roman"/>
            </a:endParaRPr>
          </a:p>
          <a:p>
            <a:pPr marL="0" marR="0" lvl="0" indent="0" algn="ctr" rtl="0">
              <a:lnSpc>
                <a:spcPct val="100000"/>
              </a:lnSpc>
              <a:spcBef>
                <a:spcPts val="0"/>
              </a:spcBef>
              <a:spcAft>
                <a:spcPts val="0"/>
              </a:spcAft>
              <a:buNone/>
            </a:pPr>
            <a:r>
              <a:rPr lang="en-US" sz="1600" b="1" dirty="0">
                <a:latin typeface="Times New Roman" panose="02020603050405020304" pitchFamily="18" charset="0"/>
                <a:ea typeface="Times New Roman"/>
                <a:cs typeface="Times New Roman" panose="02020603050405020304" pitchFamily="18" charset="0"/>
                <a:sym typeface="Times New Roman"/>
              </a:rPr>
              <a:t>ADT23ZSOCB1035:- Shipra Raj</a:t>
            </a:r>
          </a:p>
          <a:p>
            <a:pPr lvl="0" algn="ctr"/>
            <a:r>
              <a:rPr lang="en-US" sz="1600" b="1" dirty="0" smtClean="0">
                <a:latin typeface="Times New Roman" panose="02020603050405020304" pitchFamily="18" charset="0"/>
                <a:ea typeface="Times New Roman"/>
                <a:cs typeface="Times New Roman" panose="02020603050405020304" pitchFamily="18" charset="0"/>
                <a:sym typeface="Times New Roman"/>
              </a:rPr>
              <a:t>ADT23SOCB0678 </a:t>
            </a:r>
            <a:r>
              <a:rPr lang="en-US" sz="1600" b="1" dirty="0" smtClean="0">
                <a:latin typeface="Times New Roman" panose="02020603050405020304" pitchFamily="18" charset="0"/>
                <a:ea typeface="Times New Roman"/>
                <a:cs typeface="Times New Roman" panose="02020603050405020304" pitchFamily="18" charset="0"/>
                <a:sym typeface="Times New Roman"/>
              </a:rPr>
              <a:t>:- </a:t>
            </a:r>
            <a:r>
              <a:rPr lang="en-US" sz="1600" b="1" dirty="0" err="1" smtClean="0">
                <a:latin typeface="Times New Roman" panose="02020603050405020304" pitchFamily="18" charset="0"/>
                <a:ea typeface="Times New Roman"/>
                <a:cs typeface="Times New Roman" panose="02020603050405020304" pitchFamily="18" charset="0"/>
                <a:sym typeface="Times New Roman"/>
              </a:rPr>
              <a:t>Omkar</a:t>
            </a:r>
            <a:r>
              <a:rPr lang="en-US" sz="1600" b="1" dirty="0" smtClean="0">
                <a:latin typeface="Times New Roman" panose="02020603050405020304" pitchFamily="18" charset="0"/>
                <a:ea typeface="Times New Roman"/>
                <a:cs typeface="Times New Roman" panose="02020603050405020304" pitchFamily="18" charset="0"/>
                <a:sym typeface="Times New Roman"/>
              </a:rPr>
              <a:t> </a:t>
            </a:r>
            <a:r>
              <a:rPr lang="en-US" sz="1600" b="1" dirty="0" err="1" smtClean="0">
                <a:latin typeface="Times New Roman" panose="02020603050405020304" pitchFamily="18" charset="0"/>
                <a:ea typeface="Times New Roman"/>
                <a:cs typeface="Times New Roman" panose="02020603050405020304" pitchFamily="18" charset="0"/>
                <a:sym typeface="Times New Roman"/>
              </a:rPr>
              <a:t>Kalamkar</a:t>
            </a:r>
            <a:endParaRPr lang="en-US" sz="1600" b="1" dirty="0">
              <a:latin typeface="Times New Roman" panose="02020603050405020304" pitchFamily="18" charset="0"/>
              <a:ea typeface="Times New Roman"/>
              <a:cs typeface="Times New Roman" panose="02020603050405020304" pitchFamily="18" charset="0"/>
              <a:sym typeface="Times New Roman"/>
            </a:endParaRPr>
          </a:p>
          <a:p>
            <a:pPr lvl="0" algn="ctr"/>
            <a:r>
              <a:rPr lang="en-US" sz="1600" b="1" dirty="0" smtClean="0">
                <a:latin typeface="Times New Roman" panose="02020603050405020304" pitchFamily="18" charset="0"/>
                <a:ea typeface="Times New Roman"/>
                <a:cs typeface="Times New Roman" panose="02020603050405020304" pitchFamily="18" charset="0"/>
                <a:sym typeface="Times New Roman"/>
              </a:rPr>
              <a:t>ADT23SOCB1120 :- </a:t>
            </a:r>
            <a:r>
              <a:rPr lang="en-US" sz="1600" b="1" dirty="0" err="1" smtClean="0">
                <a:latin typeface="Times New Roman" panose="02020603050405020304" pitchFamily="18" charset="0"/>
                <a:ea typeface="Times New Roman"/>
                <a:cs typeface="Times New Roman" panose="02020603050405020304" pitchFamily="18" charset="0"/>
                <a:sym typeface="Times New Roman"/>
              </a:rPr>
              <a:t>Siddhesh</a:t>
            </a:r>
            <a:r>
              <a:rPr lang="en-US" sz="1600" b="1" dirty="0" smtClean="0">
                <a:latin typeface="Times New Roman" panose="02020603050405020304" pitchFamily="18" charset="0"/>
                <a:ea typeface="Times New Roman"/>
                <a:cs typeface="Times New Roman" panose="02020603050405020304" pitchFamily="18" charset="0"/>
                <a:sym typeface="Times New Roman"/>
              </a:rPr>
              <a:t> </a:t>
            </a:r>
            <a:r>
              <a:rPr lang="en-US" sz="1600" b="1" dirty="0" err="1" smtClean="0">
                <a:latin typeface="Times New Roman" panose="02020603050405020304" pitchFamily="18" charset="0"/>
                <a:ea typeface="Times New Roman"/>
                <a:cs typeface="Times New Roman" panose="02020603050405020304" pitchFamily="18" charset="0"/>
                <a:sym typeface="Times New Roman"/>
              </a:rPr>
              <a:t>Saravade</a:t>
            </a:r>
            <a:endParaRPr sz="1600" b="1" dirty="0">
              <a:latin typeface="Times New Roman" panose="02020603050405020304" pitchFamily="18" charset="0"/>
              <a:ea typeface="Times New Roman"/>
              <a:cs typeface="Times New Roman" panose="02020603050405020304" pitchFamily="18" charset="0"/>
              <a:sym typeface="Times New Roman"/>
            </a:endParaRPr>
          </a:p>
          <a:p>
            <a:pPr marL="0" marR="0" lvl="0" indent="0" algn="ctr" rtl="0">
              <a:lnSpc>
                <a:spcPct val="100000"/>
              </a:lnSpc>
              <a:spcBef>
                <a:spcPts val="0"/>
              </a:spcBef>
              <a:spcAft>
                <a:spcPts val="0"/>
              </a:spcAft>
              <a:buNone/>
            </a:pPr>
            <a:r>
              <a:rPr lang="en-US" sz="1600" b="1" dirty="0">
                <a:latin typeface="Times New Roman" panose="02020603050405020304" pitchFamily="18" charset="0"/>
                <a:ea typeface="Times New Roman"/>
                <a:cs typeface="Times New Roman" panose="02020603050405020304" pitchFamily="18" charset="0"/>
                <a:sym typeface="Times New Roman"/>
              </a:rPr>
              <a:t>Guided by</a:t>
            </a:r>
            <a:endParaRPr sz="1600" b="1" dirty="0">
              <a:latin typeface="Times New Roman" panose="02020603050405020304" pitchFamily="18" charset="0"/>
              <a:ea typeface="Times New Roman"/>
              <a:cs typeface="Times New Roman" panose="02020603050405020304" pitchFamily="18" charset="0"/>
              <a:sym typeface="Times New Roman"/>
            </a:endParaRPr>
          </a:p>
          <a:p>
            <a:pPr lvl="0" algn="ctr">
              <a:buClr>
                <a:schemeClr val="dk1"/>
              </a:buClr>
            </a:pPr>
            <a:r>
              <a:rPr lang="en-IN" sz="1600" b="1" dirty="0" err="1">
                <a:latin typeface="Times New Roman" panose="02020603050405020304" pitchFamily="18" charset="0"/>
                <a:ea typeface="Times New Roman"/>
                <a:cs typeface="Times New Roman" panose="02020603050405020304" pitchFamily="18" charset="0"/>
                <a:sym typeface="Times New Roman"/>
              </a:rPr>
              <a:t>Prof.</a:t>
            </a:r>
            <a:r>
              <a:rPr lang="en-IN" sz="1600" b="1" dirty="0">
                <a:latin typeface="Times New Roman" panose="02020603050405020304" pitchFamily="18" charset="0"/>
                <a:ea typeface="Times New Roman"/>
                <a:cs typeface="Times New Roman" panose="02020603050405020304" pitchFamily="18" charset="0"/>
                <a:sym typeface="Times New Roman"/>
              </a:rPr>
              <a:t> </a:t>
            </a:r>
            <a:r>
              <a:rPr lang="en-IN" sz="1600" b="1" dirty="0" err="1" smtClean="0">
                <a:latin typeface="Times New Roman" panose="02020603050405020304" pitchFamily="18" charset="0"/>
                <a:ea typeface="Times New Roman"/>
                <a:cs typeface="Times New Roman" panose="02020603050405020304" pitchFamily="18" charset="0"/>
                <a:sym typeface="Times New Roman"/>
              </a:rPr>
              <a:t>Archana</a:t>
            </a:r>
            <a:r>
              <a:rPr lang="en-IN" sz="1600" b="1" dirty="0" smtClean="0">
                <a:latin typeface="Times New Roman" panose="02020603050405020304" pitchFamily="18" charset="0"/>
                <a:ea typeface="Times New Roman"/>
                <a:cs typeface="Times New Roman" panose="02020603050405020304" pitchFamily="18" charset="0"/>
                <a:sym typeface="Times New Roman"/>
              </a:rPr>
              <a:t> </a:t>
            </a:r>
            <a:r>
              <a:rPr lang="en-IN" sz="1600" b="1" dirty="0" err="1">
                <a:latin typeface="Times New Roman" panose="02020603050405020304" pitchFamily="18" charset="0"/>
                <a:ea typeface="Times New Roman"/>
                <a:cs typeface="Times New Roman" panose="02020603050405020304" pitchFamily="18" charset="0"/>
                <a:sym typeface="Times New Roman"/>
              </a:rPr>
              <a:t>Pakhare</a:t>
            </a:r>
            <a:endParaRPr sz="1600" b="1" dirty="0">
              <a:latin typeface="Times New Roman" panose="02020603050405020304" pitchFamily="18" charset="0"/>
              <a:ea typeface="Times New Roman"/>
              <a:cs typeface="Times New Roman" panose="02020603050405020304" pitchFamily="18" charset="0"/>
              <a:sym typeface="Times New Roman"/>
            </a:endParaRPr>
          </a:p>
        </p:txBody>
      </p:sp>
      <p:sp>
        <p:nvSpPr>
          <p:cNvPr id="50" name="Google Shape;50;p2"/>
          <p:cNvSpPr txBox="1"/>
          <p:nvPr/>
        </p:nvSpPr>
        <p:spPr>
          <a:xfrm>
            <a:off x="2878691" y="555528"/>
            <a:ext cx="3384884" cy="107721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3200" b="1"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Project Presentation</a:t>
            </a:r>
            <a:endParaRPr dirty="0">
              <a:latin typeface="Times New Roman" panose="02020603050405020304" pitchFamily="18" charset="0"/>
              <a:cs typeface="Times New Roman" panose="02020603050405020304" pitchFamily="18" charset="0"/>
            </a:endParaRPr>
          </a:p>
        </p:txBody>
      </p:sp>
      <p:pic>
        <p:nvPicPr>
          <p:cNvPr id="51" name="Google Shape;51;p2"/>
          <p:cNvPicPr preferRelativeResize="0"/>
          <p:nvPr/>
        </p:nvPicPr>
        <p:blipFill rotWithShape="1">
          <a:blip r:embed="rId3">
            <a:alphaModFix/>
          </a:blip>
          <a:srcRect/>
          <a:stretch/>
        </p:blipFill>
        <p:spPr>
          <a:xfrm>
            <a:off x="0" y="5812967"/>
            <a:ext cx="999854" cy="102045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56" name="Google Shape;56;g5cc8714c89_0_4"/>
          <p:cNvSpPr txBox="1">
            <a:spLocks noGrp="1"/>
          </p:cNvSpPr>
          <p:nvPr>
            <p:ph type="title"/>
          </p:nvPr>
        </p:nvSpPr>
        <p:spPr>
          <a:xfrm>
            <a:off x="830592" y="408046"/>
            <a:ext cx="6932100" cy="5541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r>
              <a:rPr lang="en-US" sz="2800">
                <a:solidFill>
                  <a:srgbClr val="073763"/>
                </a:solidFill>
                <a:latin typeface="Times New Roman"/>
                <a:ea typeface="Times New Roman"/>
                <a:cs typeface="Times New Roman"/>
                <a:sym typeface="Times New Roman"/>
              </a:rPr>
              <a:t>Outline</a:t>
            </a:r>
            <a:endParaRPr>
              <a:solidFill>
                <a:srgbClr val="073763"/>
              </a:solidFill>
            </a:endParaRPr>
          </a:p>
        </p:txBody>
      </p:sp>
      <p:sp>
        <p:nvSpPr>
          <p:cNvPr id="57" name="Google Shape;57;g5cc8714c89_0_4"/>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SzPts val="1800"/>
              <a:buNone/>
            </a:pPr>
            <a:fld id="{00000000-1234-1234-1234-123412341234}" type="slidenum">
              <a:rPr lang="en-US"/>
              <a:t>2</a:t>
            </a:fld>
            <a:endParaRPr/>
          </a:p>
        </p:txBody>
      </p:sp>
      <p:sp>
        <p:nvSpPr>
          <p:cNvPr id="58" name="Google Shape;58;g5cc8714c89_0_4"/>
          <p:cNvSpPr txBox="1"/>
          <p:nvPr/>
        </p:nvSpPr>
        <p:spPr>
          <a:xfrm>
            <a:off x="1379346" y="6055962"/>
            <a:ext cx="7378753" cy="672897"/>
          </a:xfrm>
          <a:prstGeom prst="rect">
            <a:avLst/>
          </a:prstGeom>
          <a:noFill/>
          <a:ln>
            <a:noFill/>
          </a:ln>
        </p:spPr>
        <p:txBody>
          <a:bodyPr spcFirstLastPara="1" wrap="square" lIns="0" tIns="12700" rIns="0" bIns="0" anchor="t" anchorCtr="0">
            <a:noAutofit/>
          </a:bodyPr>
          <a:lstStyle/>
          <a:p>
            <a:pPr marL="12700" marR="0" lvl="0" indent="0" algn="ctr" rtl="0">
              <a:lnSpc>
                <a:spcPct val="100000"/>
              </a:lnSpc>
              <a:spcBef>
                <a:spcPts val="0"/>
              </a:spcBef>
              <a:spcAft>
                <a:spcPts val="0"/>
              </a:spcAft>
              <a:buClr>
                <a:srgbClr val="000000"/>
              </a:buClr>
              <a:buSzPts val="1800"/>
              <a:buFont typeface="Arial"/>
              <a:buNone/>
            </a:pPr>
            <a:r>
              <a:rPr lang="en-US" sz="1800" b="1" i="1" u="none" strike="noStrike" cap="none">
                <a:solidFill>
                  <a:srgbClr val="C00000"/>
                </a:solidFill>
                <a:latin typeface="Times New Roman"/>
                <a:ea typeface="Times New Roman"/>
                <a:cs typeface="Times New Roman"/>
                <a:sym typeface="Times New Roman"/>
              </a:rPr>
              <a:t>Department of Computer Science &amp; Engineering, MITSoE, Loni Kalbhor</a:t>
            </a:r>
            <a:endParaRPr sz="1800" b="1" i="1" u="none" strike="noStrike" cap="none">
              <a:solidFill>
                <a:srgbClr val="C00000"/>
              </a:solidFill>
              <a:latin typeface="Times New Roman"/>
              <a:ea typeface="Times New Roman"/>
              <a:cs typeface="Times New Roman"/>
              <a:sym typeface="Times New Roman"/>
            </a:endParaRPr>
          </a:p>
        </p:txBody>
      </p:sp>
      <p:pic>
        <p:nvPicPr>
          <p:cNvPr id="59" name="Google Shape;59;g5cc8714c89_0_4"/>
          <p:cNvPicPr preferRelativeResize="0"/>
          <p:nvPr/>
        </p:nvPicPr>
        <p:blipFill rotWithShape="1">
          <a:blip r:embed="rId3">
            <a:alphaModFix/>
          </a:blip>
          <a:srcRect/>
          <a:stretch/>
        </p:blipFill>
        <p:spPr>
          <a:xfrm>
            <a:off x="0" y="5812967"/>
            <a:ext cx="999854" cy="1020451"/>
          </a:xfrm>
          <a:prstGeom prst="rect">
            <a:avLst/>
          </a:prstGeom>
          <a:noFill/>
          <a:ln>
            <a:noFill/>
          </a:ln>
        </p:spPr>
      </p:pic>
      <p:sp>
        <p:nvSpPr>
          <p:cNvPr id="60" name="Google Shape;60;g5cc8714c89_0_4"/>
          <p:cNvSpPr txBox="1"/>
          <p:nvPr/>
        </p:nvSpPr>
        <p:spPr>
          <a:xfrm>
            <a:off x="830590" y="1284140"/>
            <a:ext cx="7848600" cy="4771800"/>
          </a:xfrm>
          <a:prstGeom prst="rect">
            <a:avLst/>
          </a:prstGeom>
          <a:noFill/>
          <a:ln>
            <a:noFill/>
          </a:ln>
        </p:spPr>
        <p:txBody>
          <a:bodyPr spcFirstLastPara="1" wrap="square" lIns="91425" tIns="91425" rIns="91425" bIns="91425" anchor="t" anchorCtr="0">
            <a:noAutofit/>
          </a:bodyPr>
          <a:lstStyle/>
          <a:p>
            <a:pPr marL="457200" marR="0" lvl="0" indent="-368300" algn="just" rtl="0">
              <a:lnSpc>
                <a:spcPct val="100000"/>
              </a:lnSpc>
              <a:spcBef>
                <a:spcPts val="0"/>
              </a:spcBef>
              <a:spcAft>
                <a:spcPts val="0"/>
              </a:spcAft>
              <a:buClr>
                <a:schemeClr val="dk1"/>
              </a:buClr>
              <a:buSzPts val="2200"/>
              <a:buFont typeface="Times New Roman"/>
              <a:buChar char="●"/>
            </a:pPr>
            <a:r>
              <a:rPr lang="en-US" sz="2200" dirty="0">
                <a:solidFill>
                  <a:schemeClr val="dk1"/>
                </a:solidFill>
                <a:latin typeface="Times New Roman"/>
                <a:ea typeface="Times New Roman"/>
                <a:cs typeface="Times New Roman"/>
                <a:sym typeface="Times New Roman"/>
              </a:rPr>
              <a:t>Introduction</a:t>
            </a:r>
            <a:endParaRPr sz="2200" dirty="0">
              <a:solidFill>
                <a:schemeClr val="dk1"/>
              </a:solidFill>
              <a:latin typeface="Times New Roman"/>
              <a:ea typeface="Times New Roman"/>
              <a:cs typeface="Times New Roman"/>
              <a:sym typeface="Times New Roman"/>
            </a:endParaRPr>
          </a:p>
          <a:p>
            <a:pPr marL="457200" marR="0" lvl="0" indent="-368300" algn="just" rtl="0">
              <a:lnSpc>
                <a:spcPct val="100000"/>
              </a:lnSpc>
              <a:spcBef>
                <a:spcPts val="0"/>
              </a:spcBef>
              <a:spcAft>
                <a:spcPts val="0"/>
              </a:spcAft>
              <a:buClr>
                <a:schemeClr val="dk1"/>
              </a:buClr>
              <a:buSzPts val="2200"/>
              <a:buFont typeface="Times New Roman"/>
              <a:buChar char="●"/>
            </a:pPr>
            <a:r>
              <a:rPr lang="en-US" sz="2200" dirty="0">
                <a:solidFill>
                  <a:schemeClr val="dk1"/>
                </a:solidFill>
                <a:latin typeface="Times New Roman"/>
                <a:ea typeface="Times New Roman"/>
                <a:cs typeface="Times New Roman"/>
                <a:sym typeface="Times New Roman"/>
              </a:rPr>
              <a:t>Problem Statement</a:t>
            </a:r>
            <a:endParaRPr sz="2200" dirty="0">
              <a:solidFill>
                <a:schemeClr val="dk1"/>
              </a:solidFill>
              <a:latin typeface="Times New Roman"/>
              <a:ea typeface="Times New Roman"/>
              <a:cs typeface="Times New Roman"/>
              <a:sym typeface="Times New Roman"/>
            </a:endParaRPr>
          </a:p>
          <a:p>
            <a:pPr marL="457200" marR="0" lvl="0" indent="-368300" algn="just" rtl="0">
              <a:lnSpc>
                <a:spcPct val="100000"/>
              </a:lnSpc>
              <a:spcBef>
                <a:spcPts val="0"/>
              </a:spcBef>
              <a:spcAft>
                <a:spcPts val="0"/>
              </a:spcAft>
              <a:buClr>
                <a:schemeClr val="dk1"/>
              </a:buClr>
              <a:buSzPts val="2200"/>
              <a:buFont typeface="Times New Roman"/>
              <a:buChar char="●"/>
            </a:pPr>
            <a:r>
              <a:rPr lang="en-US" sz="2200" dirty="0">
                <a:solidFill>
                  <a:schemeClr val="dk1"/>
                </a:solidFill>
                <a:latin typeface="Times New Roman"/>
                <a:ea typeface="Times New Roman"/>
                <a:cs typeface="Times New Roman"/>
                <a:sym typeface="Times New Roman"/>
              </a:rPr>
              <a:t>Objectives</a:t>
            </a:r>
            <a:endParaRPr sz="2200" dirty="0">
              <a:solidFill>
                <a:schemeClr val="dk1"/>
              </a:solidFill>
              <a:latin typeface="Times New Roman"/>
              <a:ea typeface="Times New Roman"/>
              <a:cs typeface="Times New Roman"/>
              <a:sym typeface="Times New Roman"/>
            </a:endParaRPr>
          </a:p>
          <a:p>
            <a:pPr marL="457200" marR="0" lvl="0" indent="-368300" algn="just" rtl="0">
              <a:lnSpc>
                <a:spcPct val="100000"/>
              </a:lnSpc>
              <a:spcBef>
                <a:spcPts val="0"/>
              </a:spcBef>
              <a:spcAft>
                <a:spcPts val="0"/>
              </a:spcAft>
              <a:buClr>
                <a:schemeClr val="dk1"/>
              </a:buClr>
              <a:buSzPts val="2200"/>
              <a:buFont typeface="Times New Roman"/>
              <a:buChar char="●"/>
            </a:pPr>
            <a:r>
              <a:rPr lang="en-US" sz="2200" dirty="0">
                <a:solidFill>
                  <a:schemeClr val="dk1"/>
                </a:solidFill>
                <a:latin typeface="Times New Roman"/>
                <a:ea typeface="Times New Roman"/>
                <a:cs typeface="Times New Roman"/>
                <a:sym typeface="Times New Roman"/>
              </a:rPr>
              <a:t>Concepts &amp; Methods</a:t>
            </a:r>
            <a:endParaRPr sz="2200" dirty="0">
              <a:solidFill>
                <a:schemeClr val="dk1"/>
              </a:solidFill>
              <a:latin typeface="Times New Roman"/>
              <a:ea typeface="Times New Roman"/>
              <a:cs typeface="Times New Roman"/>
              <a:sym typeface="Times New Roman"/>
            </a:endParaRPr>
          </a:p>
          <a:p>
            <a:pPr marL="457200" marR="0" lvl="0" indent="-368300" algn="just" rtl="0">
              <a:lnSpc>
                <a:spcPct val="100000"/>
              </a:lnSpc>
              <a:spcBef>
                <a:spcPts val="0"/>
              </a:spcBef>
              <a:spcAft>
                <a:spcPts val="0"/>
              </a:spcAft>
              <a:buClr>
                <a:schemeClr val="dk1"/>
              </a:buClr>
              <a:buSzPts val="2200"/>
              <a:buFont typeface="Times New Roman"/>
              <a:buChar char="●"/>
            </a:pPr>
            <a:r>
              <a:rPr lang="en-US" sz="2200" dirty="0">
                <a:solidFill>
                  <a:schemeClr val="dk1"/>
                </a:solidFill>
                <a:latin typeface="Times New Roman"/>
                <a:ea typeface="Times New Roman"/>
                <a:cs typeface="Times New Roman"/>
                <a:sym typeface="Times New Roman"/>
              </a:rPr>
              <a:t>Literature Review </a:t>
            </a:r>
            <a:endParaRPr sz="2200" dirty="0">
              <a:solidFill>
                <a:schemeClr val="dk1"/>
              </a:solidFill>
              <a:latin typeface="Times New Roman"/>
              <a:ea typeface="Times New Roman"/>
              <a:cs typeface="Times New Roman"/>
              <a:sym typeface="Times New Roman"/>
            </a:endParaRPr>
          </a:p>
          <a:p>
            <a:pPr marL="457200" marR="0" lvl="0" indent="-368300" algn="just" rtl="0">
              <a:lnSpc>
                <a:spcPct val="100000"/>
              </a:lnSpc>
              <a:spcBef>
                <a:spcPts val="0"/>
              </a:spcBef>
              <a:spcAft>
                <a:spcPts val="0"/>
              </a:spcAft>
              <a:buClr>
                <a:schemeClr val="dk1"/>
              </a:buClr>
              <a:buSzPts val="2200"/>
              <a:buFont typeface="Times New Roman"/>
              <a:buChar char="●"/>
            </a:pPr>
            <a:r>
              <a:rPr lang="en-US" sz="2200" dirty="0">
                <a:solidFill>
                  <a:schemeClr val="dk1"/>
                </a:solidFill>
                <a:latin typeface="Times New Roman"/>
                <a:ea typeface="Times New Roman"/>
                <a:cs typeface="Times New Roman"/>
                <a:sym typeface="Times New Roman"/>
              </a:rPr>
              <a:t>Identification of gaps &amp; scope of work </a:t>
            </a:r>
            <a:endParaRPr sz="2200" dirty="0">
              <a:solidFill>
                <a:schemeClr val="dk1"/>
              </a:solidFill>
              <a:latin typeface="Times New Roman"/>
              <a:ea typeface="Times New Roman"/>
              <a:cs typeface="Times New Roman"/>
              <a:sym typeface="Times New Roman"/>
            </a:endParaRPr>
          </a:p>
          <a:p>
            <a:pPr marL="457200" marR="0" lvl="0" indent="-368300" algn="just" rtl="0">
              <a:lnSpc>
                <a:spcPct val="100000"/>
              </a:lnSpc>
              <a:spcBef>
                <a:spcPts val="0"/>
              </a:spcBef>
              <a:spcAft>
                <a:spcPts val="0"/>
              </a:spcAft>
              <a:buClr>
                <a:schemeClr val="dk1"/>
              </a:buClr>
              <a:buSzPts val="2200"/>
              <a:buFont typeface="Times New Roman"/>
              <a:buChar char="●"/>
            </a:pPr>
            <a:r>
              <a:rPr lang="en-US" sz="2200" dirty="0">
                <a:solidFill>
                  <a:schemeClr val="dk1"/>
                </a:solidFill>
                <a:latin typeface="Times New Roman"/>
                <a:ea typeface="Times New Roman"/>
                <a:cs typeface="Times New Roman"/>
                <a:sym typeface="Times New Roman"/>
              </a:rPr>
              <a:t>RESULT </a:t>
            </a:r>
            <a:endParaRPr sz="2200" dirty="0">
              <a:solidFill>
                <a:schemeClr val="dk1"/>
              </a:solidFill>
              <a:latin typeface="Times New Roman"/>
              <a:ea typeface="Times New Roman"/>
              <a:cs typeface="Times New Roman"/>
              <a:sym typeface="Times New Roman"/>
            </a:endParaRPr>
          </a:p>
          <a:p>
            <a:pPr marL="457200" marR="0" lvl="0" indent="-368300" algn="just" rtl="0">
              <a:lnSpc>
                <a:spcPct val="100000"/>
              </a:lnSpc>
              <a:spcBef>
                <a:spcPts val="0"/>
              </a:spcBef>
              <a:spcAft>
                <a:spcPts val="0"/>
              </a:spcAft>
              <a:buClr>
                <a:schemeClr val="dk1"/>
              </a:buClr>
              <a:buSzPts val="2200"/>
              <a:buFont typeface="Times New Roman"/>
              <a:buChar char="●"/>
            </a:pPr>
            <a:r>
              <a:rPr lang="en-US" sz="2200" dirty="0">
                <a:solidFill>
                  <a:schemeClr val="dk1"/>
                </a:solidFill>
                <a:latin typeface="Times New Roman"/>
                <a:ea typeface="Times New Roman"/>
                <a:cs typeface="Times New Roman"/>
                <a:sym typeface="Times New Roman"/>
              </a:rPr>
              <a:t>Reference</a:t>
            </a:r>
            <a:endParaRPr sz="2200" dirty="0">
              <a:solidFill>
                <a:schemeClr val="dk1"/>
              </a:solidFill>
              <a:latin typeface="Times New Roman"/>
              <a:ea typeface="Times New Roman"/>
              <a:cs typeface="Times New Roman"/>
              <a:sym typeface="Times New Roman"/>
            </a:endParaRPr>
          </a:p>
          <a:p>
            <a:pPr marL="457200" marR="0" lvl="0" indent="-368300" algn="just" rtl="0">
              <a:lnSpc>
                <a:spcPct val="100000"/>
              </a:lnSpc>
              <a:spcBef>
                <a:spcPts val="0"/>
              </a:spcBef>
              <a:spcAft>
                <a:spcPts val="0"/>
              </a:spcAft>
              <a:buClr>
                <a:schemeClr val="dk1"/>
              </a:buClr>
              <a:buSzPts val="2200"/>
              <a:buFont typeface="Times New Roman"/>
              <a:buChar char="●"/>
            </a:pPr>
            <a:r>
              <a:rPr lang="en-US" sz="2200" dirty="0">
                <a:solidFill>
                  <a:schemeClr val="dk1"/>
                </a:solidFill>
                <a:latin typeface="Times New Roman"/>
                <a:ea typeface="Times New Roman"/>
                <a:cs typeface="Times New Roman"/>
                <a:sym typeface="Times New Roman"/>
              </a:rPr>
              <a:t>Q&amp;A</a:t>
            </a:r>
            <a:endParaRPr sz="2200" dirty="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None/>
            </a:pPr>
            <a:endParaRPr sz="22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4"/>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SzPts val="1800"/>
              <a:buNone/>
            </a:pPr>
            <a:fld id="{00000000-1234-1234-1234-123412341234}" type="slidenum">
              <a:rPr lang="en-US"/>
              <a:t>3</a:t>
            </a:fld>
            <a:endParaRPr/>
          </a:p>
        </p:txBody>
      </p:sp>
      <p:sp>
        <p:nvSpPr>
          <p:cNvPr id="66" name="Google Shape;66;p4"/>
          <p:cNvSpPr txBox="1"/>
          <p:nvPr/>
        </p:nvSpPr>
        <p:spPr>
          <a:xfrm>
            <a:off x="417107" y="224589"/>
            <a:ext cx="8010300" cy="5781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n-US" sz="2800" b="1" i="0" u="none" strike="noStrike" cap="none">
                <a:solidFill>
                  <a:srgbClr val="073763"/>
                </a:solidFill>
                <a:latin typeface="Times New Roman"/>
                <a:ea typeface="Times New Roman"/>
                <a:cs typeface="Times New Roman"/>
                <a:sym typeface="Times New Roman"/>
              </a:rPr>
              <a:t>Introduction</a:t>
            </a:r>
            <a:r>
              <a:rPr lang="en-US" sz="2200" b="0" i="0" u="none" strike="noStrike" cap="none">
                <a:solidFill>
                  <a:srgbClr val="073763"/>
                </a:solidFill>
                <a:latin typeface="Times New Roman"/>
                <a:ea typeface="Times New Roman"/>
                <a:cs typeface="Times New Roman"/>
                <a:sym typeface="Times New Roman"/>
              </a:rPr>
              <a:t> </a:t>
            </a:r>
            <a:endParaRPr>
              <a:solidFill>
                <a:srgbClr val="073763"/>
              </a:solidFill>
            </a:endParaRPr>
          </a:p>
        </p:txBody>
      </p:sp>
      <p:sp>
        <p:nvSpPr>
          <p:cNvPr id="67" name="Google Shape;67;p4"/>
          <p:cNvSpPr txBox="1"/>
          <p:nvPr/>
        </p:nvSpPr>
        <p:spPr>
          <a:xfrm>
            <a:off x="1379346" y="6104088"/>
            <a:ext cx="7378753" cy="672897"/>
          </a:xfrm>
          <a:prstGeom prst="rect">
            <a:avLst/>
          </a:prstGeom>
          <a:noFill/>
          <a:ln>
            <a:noFill/>
          </a:ln>
        </p:spPr>
        <p:txBody>
          <a:bodyPr spcFirstLastPara="1" wrap="square" lIns="0" tIns="12700" rIns="0" bIns="0" anchor="t" anchorCtr="0">
            <a:noAutofit/>
          </a:bodyPr>
          <a:lstStyle/>
          <a:p>
            <a:pPr marL="12700" marR="0" lvl="0" indent="0" algn="ctr" rtl="0">
              <a:lnSpc>
                <a:spcPct val="100000"/>
              </a:lnSpc>
              <a:spcBef>
                <a:spcPts val="0"/>
              </a:spcBef>
              <a:spcAft>
                <a:spcPts val="0"/>
              </a:spcAft>
              <a:buClr>
                <a:srgbClr val="000000"/>
              </a:buClr>
              <a:buSzPts val="1800"/>
              <a:buFont typeface="Arial"/>
              <a:buNone/>
            </a:pPr>
            <a:r>
              <a:rPr lang="en-US" sz="1800" b="1" i="1" u="none" strike="noStrike" cap="none">
                <a:solidFill>
                  <a:srgbClr val="C00000"/>
                </a:solidFill>
                <a:latin typeface="Times New Roman"/>
                <a:ea typeface="Times New Roman"/>
                <a:cs typeface="Times New Roman"/>
                <a:sym typeface="Times New Roman"/>
              </a:rPr>
              <a:t>Department of Computer Science &amp; Engineering, MITSoE, Loni Kalbhor</a:t>
            </a:r>
            <a:endParaRPr sz="1800" b="1" i="1" u="none" strike="noStrike" cap="none">
              <a:solidFill>
                <a:srgbClr val="C00000"/>
              </a:solidFill>
              <a:latin typeface="Times New Roman"/>
              <a:ea typeface="Times New Roman"/>
              <a:cs typeface="Times New Roman"/>
              <a:sym typeface="Times New Roman"/>
            </a:endParaRPr>
          </a:p>
        </p:txBody>
      </p:sp>
      <p:pic>
        <p:nvPicPr>
          <p:cNvPr id="68" name="Google Shape;68;p4"/>
          <p:cNvPicPr preferRelativeResize="0"/>
          <p:nvPr/>
        </p:nvPicPr>
        <p:blipFill rotWithShape="1">
          <a:blip r:embed="rId3">
            <a:alphaModFix/>
          </a:blip>
          <a:srcRect/>
          <a:stretch/>
        </p:blipFill>
        <p:spPr>
          <a:xfrm>
            <a:off x="0" y="5812967"/>
            <a:ext cx="999854" cy="1020451"/>
          </a:xfrm>
          <a:prstGeom prst="rect">
            <a:avLst/>
          </a:prstGeom>
          <a:noFill/>
          <a:ln>
            <a:noFill/>
          </a:ln>
        </p:spPr>
      </p:pic>
      <p:sp>
        <p:nvSpPr>
          <p:cNvPr id="69" name="Google Shape;69;p4"/>
          <p:cNvSpPr txBox="1"/>
          <p:nvPr/>
        </p:nvSpPr>
        <p:spPr>
          <a:xfrm>
            <a:off x="338507" y="875771"/>
            <a:ext cx="8088900" cy="1908184"/>
          </a:xfrm>
          <a:prstGeom prst="rect">
            <a:avLst/>
          </a:prstGeom>
          <a:noFill/>
          <a:ln>
            <a:noFill/>
          </a:ln>
        </p:spPr>
        <p:txBody>
          <a:bodyPr spcFirstLastPara="1" wrap="square" lIns="91425" tIns="91425" rIns="91425" bIns="91425" anchor="t" anchorCtr="0">
            <a:spAutoFit/>
          </a:bodyPr>
          <a:lstStyle/>
          <a:p>
            <a:pPr lvl="0" algn="just"/>
            <a:r>
              <a:rPr lang="en-US" dirty="0">
                <a:latin typeface="Times New Roman" panose="02020603050405020304" pitchFamily="18" charset="0"/>
                <a:cs typeface="Times New Roman" panose="02020603050405020304" pitchFamily="18" charset="0"/>
              </a:rPr>
              <a:t>In today’s rapidly evolving digital world, the way we interact with technology is constantly being reimagined. Traditional methods like keyboards and mice are being replaced with more natural and intuitive interfaces. One such innovation is the Hand Gesture Presentation System, which allows users to control presentation slides using simple hand movements. This system leverages computer vision and machine learning techniques to recognize and interpret hand gestures in real-time, offering a touchless, efficient, and interactive way to navigate through presentations. Such systems not only enhance user experience but also prove especially useful in situations where contactless interaction is preferred, such as during public speaking, teaching, or in hygiene-sensitive environments.</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6"/>
          <p:cNvSpPr txBox="1">
            <a:spLocks noGrp="1"/>
          </p:cNvSpPr>
          <p:nvPr>
            <p:ph type="sldNum" idx="12"/>
          </p:nvPr>
        </p:nvSpPr>
        <p:spPr>
          <a:xfrm>
            <a:off x="6583680" y="6377940"/>
            <a:ext cx="2103000" cy="342900"/>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SzPts val="1800"/>
              <a:buNone/>
            </a:pPr>
            <a:fld id="{00000000-1234-1234-1234-123412341234}" type="slidenum">
              <a:rPr lang="en-US"/>
              <a:t>4</a:t>
            </a:fld>
            <a:endParaRPr/>
          </a:p>
        </p:txBody>
      </p:sp>
      <p:sp>
        <p:nvSpPr>
          <p:cNvPr id="76" name="Google Shape;76;p6"/>
          <p:cNvSpPr txBox="1"/>
          <p:nvPr/>
        </p:nvSpPr>
        <p:spPr>
          <a:xfrm>
            <a:off x="528744" y="325664"/>
            <a:ext cx="8010300" cy="5781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n-US" sz="2800" b="1" i="0" u="none" strike="noStrike" cap="none">
                <a:solidFill>
                  <a:srgbClr val="073763"/>
                </a:solidFill>
                <a:latin typeface="Times New Roman"/>
                <a:ea typeface="Times New Roman"/>
                <a:cs typeface="Times New Roman"/>
                <a:sym typeface="Times New Roman"/>
              </a:rPr>
              <a:t>Problem Statement</a:t>
            </a:r>
            <a:r>
              <a:rPr lang="en-US" sz="2200" b="0" i="0" u="none" strike="noStrike" cap="none">
                <a:solidFill>
                  <a:srgbClr val="073763"/>
                </a:solidFill>
                <a:latin typeface="Times New Roman"/>
                <a:ea typeface="Times New Roman"/>
                <a:cs typeface="Times New Roman"/>
                <a:sym typeface="Times New Roman"/>
              </a:rPr>
              <a:t> </a:t>
            </a:r>
            <a:endParaRPr>
              <a:solidFill>
                <a:srgbClr val="073763"/>
              </a:solidFill>
            </a:endParaRPr>
          </a:p>
        </p:txBody>
      </p:sp>
      <p:sp>
        <p:nvSpPr>
          <p:cNvPr id="77" name="Google Shape;77;p6"/>
          <p:cNvSpPr txBox="1"/>
          <p:nvPr/>
        </p:nvSpPr>
        <p:spPr>
          <a:xfrm>
            <a:off x="1379346" y="6104088"/>
            <a:ext cx="7378800" cy="672900"/>
          </a:xfrm>
          <a:prstGeom prst="rect">
            <a:avLst/>
          </a:prstGeom>
          <a:noFill/>
          <a:ln>
            <a:noFill/>
          </a:ln>
        </p:spPr>
        <p:txBody>
          <a:bodyPr spcFirstLastPara="1" wrap="square" lIns="0" tIns="12700" rIns="0" bIns="0" anchor="t" anchorCtr="0">
            <a:noAutofit/>
          </a:bodyPr>
          <a:lstStyle/>
          <a:p>
            <a:pPr marL="12700" marR="0" lvl="0" indent="0" algn="ctr" rtl="0">
              <a:lnSpc>
                <a:spcPct val="100000"/>
              </a:lnSpc>
              <a:spcBef>
                <a:spcPts val="0"/>
              </a:spcBef>
              <a:spcAft>
                <a:spcPts val="0"/>
              </a:spcAft>
              <a:buClr>
                <a:srgbClr val="000000"/>
              </a:buClr>
              <a:buSzPts val="1800"/>
              <a:buFont typeface="Arial"/>
              <a:buNone/>
            </a:pPr>
            <a:r>
              <a:rPr lang="en-US" sz="1800" b="1" i="1" u="none" strike="noStrike" cap="none">
                <a:solidFill>
                  <a:srgbClr val="C00000"/>
                </a:solidFill>
                <a:latin typeface="Times New Roman"/>
                <a:ea typeface="Times New Roman"/>
                <a:cs typeface="Times New Roman"/>
                <a:sym typeface="Times New Roman"/>
              </a:rPr>
              <a:t>Department of Computer Science &amp; Engineering, MITSoE, Loni Kalbhor</a:t>
            </a:r>
            <a:endParaRPr sz="1800" b="1" i="1" u="none" strike="noStrike" cap="none">
              <a:solidFill>
                <a:srgbClr val="C00000"/>
              </a:solidFill>
              <a:latin typeface="Times New Roman"/>
              <a:ea typeface="Times New Roman"/>
              <a:cs typeface="Times New Roman"/>
              <a:sym typeface="Times New Roman"/>
            </a:endParaRPr>
          </a:p>
        </p:txBody>
      </p:sp>
      <p:pic>
        <p:nvPicPr>
          <p:cNvPr id="78" name="Google Shape;78;p6"/>
          <p:cNvPicPr preferRelativeResize="0"/>
          <p:nvPr/>
        </p:nvPicPr>
        <p:blipFill rotWithShape="1">
          <a:blip r:embed="rId3">
            <a:alphaModFix/>
          </a:blip>
          <a:srcRect/>
          <a:stretch/>
        </p:blipFill>
        <p:spPr>
          <a:xfrm>
            <a:off x="0" y="5812967"/>
            <a:ext cx="999854" cy="1020451"/>
          </a:xfrm>
          <a:prstGeom prst="rect">
            <a:avLst/>
          </a:prstGeom>
          <a:noFill/>
          <a:ln>
            <a:noFill/>
          </a:ln>
        </p:spPr>
      </p:pic>
      <p:sp>
        <p:nvSpPr>
          <p:cNvPr id="79" name="Google Shape;79;p6"/>
          <p:cNvSpPr txBox="1"/>
          <p:nvPr/>
        </p:nvSpPr>
        <p:spPr>
          <a:xfrm>
            <a:off x="489450" y="903763"/>
            <a:ext cx="8088900" cy="2339072"/>
          </a:xfrm>
          <a:prstGeom prst="rect">
            <a:avLst/>
          </a:prstGeom>
          <a:noFill/>
          <a:ln>
            <a:noFill/>
          </a:ln>
        </p:spPr>
        <p:txBody>
          <a:bodyPr spcFirstLastPara="1" wrap="square" lIns="91425" tIns="91425" rIns="91425" bIns="91425" anchor="t" anchorCtr="0">
            <a:spAutoFit/>
          </a:bodyPr>
          <a:lstStyle/>
          <a:p>
            <a:pPr marL="742950" lvl="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Traditional presentation controls are restrictive and disrupt the flow. A hands-free solution is needed for smoother interaction</a:t>
            </a:r>
          </a:p>
          <a:p>
            <a:pPr marL="742950" lvl="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Limited Interaction Flexibility: Traditional presentation tools rely on physical input devices like keyboards, mice, or clickers, which can restrict the speaker's movement and reduce engagement with the audience.</a:t>
            </a:r>
          </a:p>
          <a:p>
            <a:pPr marL="742950" lvl="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Lack of Contactless Control: In scenarios where hygiene or accessibility is important (e.g., during a pandemic or in smart classrooms), there is a need for a touch-free way to control presentations.</a:t>
            </a:r>
          </a:p>
          <a:p>
            <a:pPr marL="742950" lvl="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User Dependency on External Devices: Carrying and setting up external controllers or remotes can be inconvenient and unreliable, highlighting the need for a more natural, gesture-based control system using just the user's hand and a camera.</a:t>
            </a:r>
            <a:endParaRPr dirty="0">
              <a:latin typeface="Times New Roman" panose="02020603050405020304" pitchFamily="18" charset="0"/>
              <a:cs typeface="Times New Roman" panose="02020603050405020304" pitchFamily="18" charset="0"/>
            </a:endParaRPr>
          </a:p>
        </p:txBody>
      </p:sp>
      <p:sp>
        <p:nvSpPr>
          <p:cNvPr id="80" name="Google Shape;80;p6"/>
          <p:cNvSpPr txBox="1"/>
          <p:nvPr/>
        </p:nvSpPr>
        <p:spPr>
          <a:xfrm>
            <a:off x="410844" y="4135227"/>
            <a:ext cx="8088900" cy="1477297"/>
          </a:xfrm>
          <a:prstGeom prst="rect">
            <a:avLst/>
          </a:prstGeom>
          <a:noFill/>
          <a:ln>
            <a:noFill/>
          </a:ln>
        </p:spPr>
        <p:txBody>
          <a:bodyPr spcFirstLastPara="1" wrap="square" lIns="91425" tIns="91425" rIns="91425" bIns="91425" anchor="t" anchorCtr="0">
            <a:spAutoFit/>
          </a:bodyPr>
          <a:lstStyle/>
          <a:p>
            <a:pPr lvl="0" algn="just"/>
            <a:r>
              <a:rPr lang="en-US" dirty="0"/>
              <a:t>The primary objective of the Hand Gesture Presentation System is to develop a touchless, real-time control mechanism that allows users to navigate through presentation slides using hand gestures detected via a camera. This system aims to: Enhance user interaction by replacing traditional input devices with intuitive hand gestures . Improve mobility and presentation flow for speakers, especially in professional and academic settings . Provide a hygienic and accessible alternative for controlling presentations without physical contact.</a:t>
            </a:r>
            <a:endParaRPr dirty="0"/>
          </a:p>
        </p:txBody>
      </p:sp>
      <p:sp>
        <p:nvSpPr>
          <p:cNvPr id="81" name="Google Shape;81;p6"/>
          <p:cNvSpPr txBox="1"/>
          <p:nvPr/>
        </p:nvSpPr>
        <p:spPr>
          <a:xfrm>
            <a:off x="489444" y="3557127"/>
            <a:ext cx="8010300" cy="5781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n-US" sz="2800" b="1" i="0" u="none" strike="noStrike" cap="none">
                <a:solidFill>
                  <a:srgbClr val="073763"/>
                </a:solidFill>
                <a:latin typeface="Times New Roman"/>
                <a:ea typeface="Times New Roman"/>
                <a:cs typeface="Times New Roman"/>
                <a:sym typeface="Times New Roman"/>
              </a:rPr>
              <a:t>Objectives</a:t>
            </a:r>
            <a:r>
              <a:rPr lang="en-US" sz="2200" b="0" i="0" u="none" strike="noStrike" cap="none">
                <a:solidFill>
                  <a:srgbClr val="073763"/>
                </a:solidFill>
                <a:latin typeface="Times New Roman"/>
                <a:ea typeface="Times New Roman"/>
                <a:cs typeface="Times New Roman"/>
                <a:sym typeface="Times New Roman"/>
              </a:rPr>
              <a:t> </a:t>
            </a:r>
            <a:endParaRPr>
              <a:solidFill>
                <a:srgbClr val="073763"/>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8"/>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SzPts val="1800"/>
              <a:buNone/>
            </a:pPr>
            <a:fld id="{00000000-1234-1234-1234-123412341234}" type="slidenum">
              <a:rPr lang="en-US"/>
              <a:t>5</a:t>
            </a:fld>
            <a:endParaRPr/>
          </a:p>
        </p:txBody>
      </p:sp>
      <p:sp>
        <p:nvSpPr>
          <p:cNvPr id="87" name="Google Shape;87;p8"/>
          <p:cNvSpPr txBox="1"/>
          <p:nvPr/>
        </p:nvSpPr>
        <p:spPr>
          <a:xfrm>
            <a:off x="417094" y="-11"/>
            <a:ext cx="8010300" cy="5781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n-US" sz="2800" b="1" i="0" u="none" strike="noStrike" cap="none">
                <a:solidFill>
                  <a:srgbClr val="C00000"/>
                </a:solidFill>
                <a:latin typeface="Times New Roman"/>
                <a:ea typeface="Times New Roman"/>
                <a:cs typeface="Times New Roman"/>
                <a:sym typeface="Times New Roman"/>
              </a:rPr>
              <a:t>4. Concepts and Methods</a:t>
            </a:r>
            <a:r>
              <a:rPr lang="en-US" sz="2200" b="0" i="0" u="none" strike="noStrike" cap="none">
                <a:solidFill>
                  <a:srgbClr val="C00000"/>
                </a:solidFill>
                <a:latin typeface="Times New Roman"/>
                <a:ea typeface="Times New Roman"/>
                <a:cs typeface="Times New Roman"/>
                <a:sym typeface="Times New Roman"/>
              </a:rPr>
              <a:t> </a:t>
            </a:r>
            <a:endParaRPr/>
          </a:p>
        </p:txBody>
      </p:sp>
      <p:sp>
        <p:nvSpPr>
          <p:cNvPr id="88" name="Google Shape;88;p8"/>
          <p:cNvSpPr txBox="1"/>
          <p:nvPr/>
        </p:nvSpPr>
        <p:spPr>
          <a:xfrm>
            <a:off x="1379346" y="6104088"/>
            <a:ext cx="7378753" cy="672897"/>
          </a:xfrm>
          <a:prstGeom prst="rect">
            <a:avLst/>
          </a:prstGeom>
          <a:noFill/>
          <a:ln>
            <a:noFill/>
          </a:ln>
        </p:spPr>
        <p:txBody>
          <a:bodyPr spcFirstLastPara="1" wrap="square" lIns="0" tIns="12700" rIns="0" bIns="0" anchor="t" anchorCtr="0">
            <a:noAutofit/>
          </a:bodyPr>
          <a:lstStyle/>
          <a:p>
            <a:pPr marL="12700" marR="0" lvl="0" indent="0" algn="ctr" rtl="0">
              <a:lnSpc>
                <a:spcPct val="100000"/>
              </a:lnSpc>
              <a:spcBef>
                <a:spcPts val="0"/>
              </a:spcBef>
              <a:spcAft>
                <a:spcPts val="0"/>
              </a:spcAft>
              <a:buClr>
                <a:srgbClr val="000000"/>
              </a:buClr>
              <a:buSzPts val="1800"/>
              <a:buFont typeface="Arial"/>
              <a:buNone/>
            </a:pPr>
            <a:r>
              <a:rPr lang="en-US" sz="1800" b="1" i="1" u="none" strike="noStrike" cap="none">
                <a:solidFill>
                  <a:srgbClr val="C00000"/>
                </a:solidFill>
                <a:latin typeface="Times New Roman"/>
                <a:ea typeface="Times New Roman"/>
                <a:cs typeface="Times New Roman"/>
                <a:sym typeface="Times New Roman"/>
              </a:rPr>
              <a:t>Department of Computer Science &amp; Engineering, MITSoE, Loni Kalbhor</a:t>
            </a:r>
            <a:endParaRPr sz="1800" b="1" i="1" u="none" strike="noStrike" cap="none">
              <a:solidFill>
                <a:srgbClr val="C00000"/>
              </a:solidFill>
              <a:latin typeface="Times New Roman"/>
              <a:ea typeface="Times New Roman"/>
              <a:cs typeface="Times New Roman"/>
              <a:sym typeface="Times New Roman"/>
            </a:endParaRPr>
          </a:p>
        </p:txBody>
      </p:sp>
      <p:pic>
        <p:nvPicPr>
          <p:cNvPr id="89" name="Google Shape;89;p8"/>
          <p:cNvPicPr preferRelativeResize="0"/>
          <p:nvPr/>
        </p:nvPicPr>
        <p:blipFill rotWithShape="1">
          <a:blip r:embed="rId3">
            <a:alphaModFix/>
          </a:blip>
          <a:srcRect/>
          <a:stretch/>
        </p:blipFill>
        <p:spPr>
          <a:xfrm>
            <a:off x="0" y="5812967"/>
            <a:ext cx="999854" cy="1020451"/>
          </a:xfrm>
          <a:prstGeom prst="rect">
            <a:avLst/>
          </a:prstGeom>
          <a:noFill/>
          <a:ln>
            <a:noFill/>
          </a:ln>
        </p:spPr>
      </p:pic>
      <p:sp>
        <p:nvSpPr>
          <p:cNvPr id="90" name="Google Shape;90;p8"/>
          <p:cNvSpPr txBox="1"/>
          <p:nvPr/>
        </p:nvSpPr>
        <p:spPr>
          <a:xfrm>
            <a:off x="-1063690" y="521897"/>
            <a:ext cx="9821789" cy="1671196"/>
          </a:xfrm>
          <a:prstGeom prst="rect">
            <a:avLst/>
          </a:prstGeom>
          <a:noFill/>
          <a:ln>
            <a:noFill/>
          </a:ln>
        </p:spPr>
        <p:txBody>
          <a:bodyPr spcFirstLastPara="1" wrap="square" lIns="91425" tIns="91425" rIns="91425" bIns="91425" anchor="t" anchorCtr="0">
            <a:spAutoFit/>
          </a:bodyPr>
          <a:lstStyle/>
          <a:p>
            <a:pPr marL="1066800" lvl="1">
              <a:lnSpc>
                <a:spcPct val="115000"/>
              </a:lnSpc>
              <a:buSzPts val="1200"/>
            </a:pPr>
            <a:r>
              <a:rPr lang="en-US" b="1" dirty="0">
                <a:latin typeface="Calibri"/>
                <a:ea typeface="Calibri"/>
                <a:cs typeface="Calibri"/>
                <a:sym typeface="Calibri"/>
              </a:rPr>
              <a:t>Concept : </a:t>
            </a:r>
          </a:p>
          <a:p>
            <a:pPr marL="1066800" lvl="1">
              <a:lnSpc>
                <a:spcPct val="115000"/>
              </a:lnSpc>
              <a:buSzPts val="1200"/>
            </a:pPr>
            <a:r>
              <a:rPr lang="en-US" dirty="0">
                <a:latin typeface="Calibri"/>
                <a:ea typeface="Calibri"/>
                <a:cs typeface="Calibri"/>
                <a:sym typeface="Calibri"/>
              </a:rPr>
              <a:t>The Hand Gesture Presentation System is based on the idea of using computer vision and gesture recognition to create a more natural and seamless human-computer interaction. Instead of using conventional devices like a mouse or a remote, this system tracks and interprets hand gestures through a webcam or camera sensor to control slide navigation in real-time. It makes use of advanced algorithms to detect hand position, shape, and movement, translating them into specific commands such as "next slide," "previous slide," or "pause."</a:t>
            </a:r>
            <a:endParaRPr dirty="0">
              <a:solidFill>
                <a:srgbClr val="000000"/>
              </a:solidFill>
              <a:latin typeface="Calibri"/>
              <a:ea typeface="Calibri"/>
              <a:cs typeface="Calibri"/>
              <a:sym typeface="Calibri"/>
            </a:endParaRPr>
          </a:p>
        </p:txBody>
      </p:sp>
      <p:sp>
        <p:nvSpPr>
          <p:cNvPr id="91" name="Google Shape;91;p8"/>
          <p:cNvSpPr txBox="1"/>
          <p:nvPr/>
        </p:nvSpPr>
        <p:spPr>
          <a:xfrm>
            <a:off x="29890" y="2033551"/>
            <a:ext cx="8728209" cy="2982325"/>
          </a:xfrm>
          <a:prstGeom prst="rect">
            <a:avLst/>
          </a:prstGeom>
          <a:noFill/>
          <a:ln>
            <a:noFill/>
          </a:ln>
        </p:spPr>
        <p:txBody>
          <a:bodyPr spcFirstLastPara="1" wrap="square" lIns="91425" tIns="91425" rIns="91425" bIns="91425" anchor="t" anchorCtr="0">
            <a:spAutoFit/>
          </a:bodyPr>
          <a:lstStyle/>
          <a:p>
            <a:r>
              <a:rPr lang="en-US" b="1" dirty="0">
                <a:latin typeface="Times New Roman" panose="02020603050405020304" pitchFamily="18" charset="0"/>
                <a:cs typeface="Times New Roman" panose="02020603050405020304" pitchFamily="18" charset="0"/>
              </a:rPr>
              <a:t>Method:</a:t>
            </a:r>
          </a:p>
          <a:p>
            <a:pPr>
              <a:buFont typeface="+mj-lt"/>
              <a:buAutoNum type="arabicPeriod"/>
            </a:pPr>
            <a:r>
              <a:rPr lang="en-US" b="1" dirty="0">
                <a:latin typeface="Times New Roman" panose="02020603050405020304" pitchFamily="18" charset="0"/>
                <a:cs typeface="Times New Roman" panose="02020603050405020304" pitchFamily="18" charset="0"/>
              </a:rPr>
              <a:t>Capture Input:</a:t>
            </a:r>
            <a:r>
              <a:rPr lang="en-US" dirty="0">
                <a:latin typeface="Times New Roman" panose="02020603050405020304" pitchFamily="18" charset="0"/>
                <a:cs typeface="Times New Roman" panose="02020603050405020304" pitchFamily="18" charset="0"/>
              </a:rPr>
              <a:t> A webcam or inbuilt camera captures live video of the user's hand.</a:t>
            </a:r>
          </a:p>
          <a:p>
            <a:pPr>
              <a:buFont typeface="+mj-lt"/>
              <a:buAutoNum type="arabicPeriod"/>
            </a:pPr>
            <a:r>
              <a:rPr lang="en-US" b="1" dirty="0">
                <a:latin typeface="Times New Roman" panose="02020603050405020304" pitchFamily="18" charset="0"/>
                <a:cs typeface="Times New Roman" panose="02020603050405020304" pitchFamily="18" charset="0"/>
              </a:rPr>
              <a:t>Preprocessing:</a:t>
            </a:r>
            <a:r>
              <a:rPr lang="en-US" dirty="0">
                <a:latin typeface="Times New Roman" panose="02020603050405020304" pitchFamily="18" charset="0"/>
                <a:cs typeface="Times New Roman" panose="02020603050405020304" pitchFamily="18" charset="0"/>
              </a:rPr>
              <a:t> The video frames are processed to detect the hand using libraries like </a:t>
            </a:r>
            <a:r>
              <a:rPr lang="en-US" b="1" dirty="0" err="1">
                <a:latin typeface="Times New Roman" panose="02020603050405020304" pitchFamily="18" charset="0"/>
                <a:cs typeface="Times New Roman" panose="02020603050405020304" pitchFamily="18" charset="0"/>
              </a:rPr>
              <a:t>OpenCV</a:t>
            </a:r>
            <a:r>
              <a:rPr lang="en-US" dirty="0">
                <a:latin typeface="Times New Roman" panose="02020603050405020304" pitchFamily="18" charset="0"/>
                <a:cs typeface="Times New Roman" panose="02020603050405020304" pitchFamily="18" charset="0"/>
              </a:rPr>
              <a:t> and </a:t>
            </a:r>
            <a:r>
              <a:rPr lang="en-US" b="1" dirty="0" err="1">
                <a:latin typeface="Times New Roman" panose="02020603050405020304" pitchFamily="18" charset="0"/>
                <a:cs typeface="Times New Roman" panose="02020603050405020304" pitchFamily="18" charset="0"/>
              </a:rPr>
              <a:t>MediaPipe</a:t>
            </a:r>
            <a:r>
              <a:rPr lang="en-US" dirty="0">
                <a:latin typeface="Times New Roman" panose="02020603050405020304" pitchFamily="18" charset="0"/>
                <a:cs typeface="Times New Roman" panose="02020603050405020304" pitchFamily="18" charset="0"/>
              </a:rPr>
              <a:t>. Background noise is reduced, and the region of interest (ROI) is extracted.</a:t>
            </a:r>
          </a:p>
          <a:p>
            <a:pPr>
              <a:buFont typeface="+mj-lt"/>
              <a:buAutoNum type="arabicPeriod"/>
            </a:pPr>
            <a:r>
              <a:rPr lang="en-US" b="1" dirty="0">
                <a:latin typeface="Times New Roman" panose="02020603050405020304" pitchFamily="18" charset="0"/>
                <a:cs typeface="Times New Roman" panose="02020603050405020304" pitchFamily="18" charset="0"/>
              </a:rPr>
              <a:t>Hand Landmark Detection:</a:t>
            </a:r>
            <a:r>
              <a:rPr lang="en-US" dirty="0">
                <a:latin typeface="Times New Roman" panose="02020603050405020304" pitchFamily="18" charset="0"/>
                <a:cs typeface="Times New Roman" panose="02020603050405020304" pitchFamily="18" charset="0"/>
              </a:rPr>
              <a:t> Using tools like </a:t>
            </a:r>
            <a:r>
              <a:rPr lang="en-US" b="1" dirty="0" err="1">
                <a:latin typeface="Times New Roman" panose="02020603050405020304" pitchFamily="18" charset="0"/>
                <a:cs typeface="Times New Roman" panose="02020603050405020304" pitchFamily="18" charset="0"/>
              </a:rPr>
              <a:t>MediaPipe</a:t>
            </a:r>
            <a:r>
              <a:rPr lang="en-US" b="1" dirty="0">
                <a:latin typeface="Times New Roman" panose="02020603050405020304" pitchFamily="18" charset="0"/>
                <a:cs typeface="Times New Roman" panose="02020603050405020304" pitchFamily="18" charset="0"/>
              </a:rPr>
              <a:t> Hands</a:t>
            </a:r>
            <a:r>
              <a:rPr lang="en-US" dirty="0">
                <a:latin typeface="Times New Roman" panose="02020603050405020304" pitchFamily="18" charset="0"/>
                <a:cs typeface="Times New Roman" panose="02020603050405020304" pitchFamily="18" charset="0"/>
              </a:rPr>
              <a:t>, the system identifies 21 key landmarks on the hand and tracks their movement and orientation.</a:t>
            </a:r>
          </a:p>
          <a:p>
            <a:pPr>
              <a:buFont typeface="+mj-lt"/>
              <a:buAutoNum type="arabicPeriod"/>
            </a:pPr>
            <a:r>
              <a:rPr lang="en-US" b="1" dirty="0">
                <a:latin typeface="Times New Roman" panose="02020603050405020304" pitchFamily="18" charset="0"/>
                <a:cs typeface="Times New Roman" panose="02020603050405020304" pitchFamily="18" charset="0"/>
              </a:rPr>
              <a:t>Gesture Recognition:</a:t>
            </a:r>
            <a:r>
              <a:rPr lang="en-US" dirty="0">
                <a:latin typeface="Times New Roman" panose="02020603050405020304" pitchFamily="18" charset="0"/>
                <a:cs typeface="Times New Roman" panose="02020603050405020304" pitchFamily="18" charset="0"/>
              </a:rPr>
              <a:t> Specific gestures (like swiping left or right, thumbs up, etc.) are recognized using rule-based logic or machine learning models.</a:t>
            </a:r>
          </a:p>
          <a:p>
            <a:pPr>
              <a:buFont typeface="+mj-lt"/>
              <a:buAutoNum type="arabicPeriod"/>
            </a:pPr>
            <a:r>
              <a:rPr lang="en-US" b="1" dirty="0">
                <a:latin typeface="Times New Roman" panose="02020603050405020304" pitchFamily="18" charset="0"/>
                <a:cs typeface="Times New Roman" panose="02020603050405020304" pitchFamily="18" charset="0"/>
              </a:rPr>
              <a:t>Action Mapping:</a:t>
            </a:r>
            <a:r>
              <a:rPr lang="en-US" dirty="0">
                <a:latin typeface="Times New Roman" panose="02020603050405020304" pitchFamily="18" charset="0"/>
                <a:cs typeface="Times New Roman" panose="02020603050405020304" pitchFamily="18" charset="0"/>
              </a:rPr>
              <a:t> Each recognized gesture is mapped to a specific presentation command (e.g., swipe right → next slide).</a:t>
            </a:r>
          </a:p>
          <a:p>
            <a:pPr>
              <a:buFont typeface="+mj-lt"/>
              <a:buAutoNum type="arabicPeriod"/>
            </a:pPr>
            <a:r>
              <a:rPr lang="en-US" b="1" dirty="0">
                <a:latin typeface="Times New Roman" panose="02020603050405020304" pitchFamily="18" charset="0"/>
                <a:cs typeface="Times New Roman" panose="02020603050405020304" pitchFamily="18" charset="0"/>
              </a:rPr>
              <a:t>Execution:</a:t>
            </a:r>
            <a:r>
              <a:rPr lang="en-US" dirty="0">
                <a:latin typeface="Times New Roman" panose="02020603050405020304" pitchFamily="18" charset="0"/>
                <a:cs typeface="Times New Roman" panose="02020603050405020304" pitchFamily="18" charset="0"/>
              </a:rPr>
              <a:t> The system simulates keyboard inputs (using libraries like </a:t>
            </a:r>
            <a:r>
              <a:rPr lang="en-US" dirty="0" err="1">
                <a:latin typeface="Times New Roman" panose="02020603050405020304" pitchFamily="18" charset="0"/>
                <a:cs typeface="Times New Roman" panose="02020603050405020304" pitchFamily="18" charset="0"/>
              </a:rPr>
              <a:t>PyAutoGUI</a:t>
            </a:r>
            <a:r>
              <a:rPr lang="en-US" dirty="0">
                <a:latin typeface="Times New Roman" panose="02020603050405020304" pitchFamily="18" charset="0"/>
                <a:cs typeface="Times New Roman" panose="02020603050405020304" pitchFamily="18" charset="0"/>
              </a:rPr>
              <a:t>) to control the presentation software accordingly.</a:t>
            </a:r>
          </a:p>
          <a:p>
            <a:pPr marL="0" lvl="0" indent="0" algn="l" rtl="0">
              <a:lnSpc>
                <a:spcPct val="115000"/>
              </a:lnSpc>
              <a:spcBef>
                <a:spcPts val="0"/>
              </a:spcBef>
              <a:spcAft>
                <a:spcPts val="0"/>
              </a:spcAft>
              <a:buNone/>
            </a:pPr>
            <a:endParaRPr sz="1200" b="1" dirty="0">
              <a:solidFill>
                <a:srgbClr val="000000"/>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9"/>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SzPts val="1800"/>
              <a:buNone/>
            </a:pPr>
            <a:fld id="{00000000-1234-1234-1234-123412341234}" type="slidenum">
              <a:rPr lang="en-US"/>
              <a:t>6</a:t>
            </a:fld>
            <a:endParaRPr/>
          </a:p>
        </p:txBody>
      </p:sp>
      <p:sp>
        <p:nvSpPr>
          <p:cNvPr id="100" name="Google Shape;100;p9"/>
          <p:cNvSpPr txBox="1"/>
          <p:nvPr/>
        </p:nvSpPr>
        <p:spPr>
          <a:xfrm>
            <a:off x="417094" y="224589"/>
            <a:ext cx="8010213" cy="5780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n-US" sz="2800" b="1" i="0" u="none" strike="noStrike" cap="none">
                <a:solidFill>
                  <a:srgbClr val="C00000"/>
                </a:solidFill>
                <a:latin typeface="Times New Roman"/>
                <a:ea typeface="Times New Roman"/>
                <a:cs typeface="Times New Roman"/>
                <a:sym typeface="Times New Roman"/>
              </a:rPr>
              <a:t>5. Literature Survey</a:t>
            </a:r>
            <a:r>
              <a:rPr lang="en-US" sz="2200" b="0" i="0" u="none" strike="noStrike" cap="none">
                <a:solidFill>
                  <a:srgbClr val="C00000"/>
                </a:solidFill>
                <a:latin typeface="Times New Roman"/>
                <a:ea typeface="Times New Roman"/>
                <a:cs typeface="Times New Roman"/>
                <a:sym typeface="Times New Roman"/>
              </a:rPr>
              <a:t> </a:t>
            </a:r>
            <a:endParaRPr/>
          </a:p>
        </p:txBody>
      </p:sp>
      <p:sp>
        <p:nvSpPr>
          <p:cNvPr id="101" name="Google Shape;101;p9"/>
          <p:cNvSpPr txBox="1"/>
          <p:nvPr/>
        </p:nvSpPr>
        <p:spPr>
          <a:xfrm>
            <a:off x="1379346" y="6104088"/>
            <a:ext cx="7378753" cy="672897"/>
          </a:xfrm>
          <a:prstGeom prst="rect">
            <a:avLst/>
          </a:prstGeom>
          <a:noFill/>
          <a:ln>
            <a:noFill/>
          </a:ln>
        </p:spPr>
        <p:txBody>
          <a:bodyPr spcFirstLastPara="1" wrap="square" lIns="0" tIns="12700" rIns="0" bIns="0" anchor="t" anchorCtr="0">
            <a:noAutofit/>
          </a:bodyPr>
          <a:lstStyle/>
          <a:p>
            <a:pPr marL="12700" marR="0" lvl="0" indent="0" algn="ctr" rtl="0">
              <a:lnSpc>
                <a:spcPct val="100000"/>
              </a:lnSpc>
              <a:spcBef>
                <a:spcPts val="0"/>
              </a:spcBef>
              <a:spcAft>
                <a:spcPts val="0"/>
              </a:spcAft>
              <a:buClr>
                <a:srgbClr val="000000"/>
              </a:buClr>
              <a:buSzPts val="1800"/>
              <a:buFont typeface="Arial"/>
              <a:buNone/>
            </a:pPr>
            <a:r>
              <a:rPr lang="en-US" sz="1800" b="1" i="1" u="none" strike="noStrike" cap="none">
                <a:solidFill>
                  <a:srgbClr val="C00000"/>
                </a:solidFill>
                <a:latin typeface="Times New Roman"/>
                <a:ea typeface="Times New Roman"/>
                <a:cs typeface="Times New Roman"/>
                <a:sym typeface="Times New Roman"/>
              </a:rPr>
              <a:t>Department of Computer Science &amp; Engineering, MITSoE, Loni Kalbhor</a:t>
            </a:r>
            <a:endParaRPr sz="1800" b="1" i="1" u="none" strike="noStrike" cap="none">
              <a:solidFill>
                <a:srgbClr val="C00000"/>
              </a:solidFill>
              <a:latin typeface="Times New Roman"/>
              <a:ea typeface="Times New Roman"/>
              <a:cs typeface="Times New Roman"/>
              <a:sym typeface="Times New Roman"/>
            </a:endParaRPr>
          </a:p>
        </p:txBody>
      </p:sp>
      <p:pic>
        <p:nvPicPr>
          <p:cNvPr id="102" name="Google Shape;102;p9"/>
          <p:cNvPicPr preferRelativeResize="0"/>
          <p:nvPr/>
        </p:nvPicPr>
        <p:blipFill rotWithShape="1">
          <a:blip r:embed="rId3">
            <a:alphaModFix/>
          </a:blip>
          <a:srcRect/>
          <a:stretch/>
        </p:blipFill>
        <p:spPr>
          <a:xfrm>
            <a:off x="0" y="5812967"/>
            <a:ext cx="999854" cy="1020451"/>
          </a:xfrm>
          <a:prstGeom prst="rect">
            <a:avLst/>
          </a:prstGeom>
          <a:noFill/>
          <a:ln>
            <a:noFill/>
          </a:ln>
        </p:spPr>
      </p:pic>
      <p:graphicFrame>
        <p:nvGraphicFramePr>
          <p:cNvPr id="103" name="Google Shape;103;p9"/>
          <p:cNvGraphicFramePr/>
          <p:nvPr>
            <p:extLst>
              <p:ext uri="{D42A27DB-BD31-4B8C-83A1-F6EECF244321}">
                <p14:modId xmlns:p14="http://schemas.microsoft.com/office/powerpoint/2010/main" val="296111809"/>
              </p:ext>
            </p:extLst>
          </p:nvPr>
        </p:nvGraphicFramePr>
        <p:xfrm>
          <a:off x="249350" y="721538"/>
          <a:ext cx="8645300" cy="3247533"/>
        </p:xfrm>
        <a:graphic>
          <a:graphicData uri="http://schemas.openxmlformats.org/drawingml/2006/table">
            <a:tbl>
              <a:tblPr>
                <a:noFill/>
                <a:tableStyleId>{6CB3F4C0-F2E8-4320-A34B-0B094AA10944}</a:tableStyleId>
              </a:tblPr>
              <a:tblGrid>
                <a:gridCol w="638775">
                  <a:extLst>
                    <a:ext uri="{9D8B030D-6E8A-4147-A177-3AD203B41FA5}">
                      <a16:colId xmlns:a16="http://schemas.microsoft.com/office/drawing/2014/main" val="20000"/>
                    </a:ext>
                  </a:extLst>
                </a:gridCol>
                <a:gridCol w="3141400">
                  <a:extLst>
                    <a:ext uri="{9D8B030D-6E8A-4147-A177-3AD203B41FA5}">
                      <a16:colId xmlns:a16="http://schemas.microsoft.com/office/drawing/2014/main" val="20001"/>
                    </a:ext>
                  </a:extLst>
                </a:gridCol>
                <a:gridCol w="1434925">
                  <a:extLst>
                    <a:ext uri="{9D8B030D-6E8A-4147-A177-3AD203B41FA5}">
                      <a16:colId xmlns:a16="http://schemas.microsoft.com/office/drawing/2014/main" val="20002"/>
                    </a:ext>
                  </a:extLst>
                </a:gridCol>
                <a:gridCol w="3430200">
                  <a:extLst>
                    <a:ext uri="{9D8B030D-6E8A-4147-A177-3AD203B41FA5}">
                      <a16:colId xmlns:a16="http://schemas.microsoft.com/office/drawing/2014/main" val="20003"/>
                    </a:ext>
                  </a:extLst>
                </a:gridCol>
              </a:tblGrid>
              <a:tr h="343650">
                <a:tc>
                  <a:txBody>
                    <a:bodyPr/>
                    <a:lstStyle/>
                    <a:p>
                      <a:pPr marL="0" lvl="0" indent="0" algn="l" rtl="0">
                        <a:spcBef>
                          <a:spcPts val="0"/>
                        </a:spcBef>
                        <a:spcAft>
                          <a:spcPts val="0"/>
                        </a:spcAft>
                        <a:buNone/>
                      </a:pPr>
                      <a:r>
                        <a:rPr lang="en-US" sz="1200" b="1">
                          <a:latin typeface="Calibri"/>
                          <a:ea typeface="Calibri"/>
                          <a:cs typeface="Calibri"/>
                          <a:sym typeface="Calibri"/>
                        </a:rPr>
                        <a:t>Sr. no</a:t>
                      </a:r>
                      <a:endParaRPr sz="1200" b="1">
                        <a:latin typeface="Calibri"/>
                        <a:ea typeface="Calibri"/>
                        <a:cs typeface="Calibri"/>
                        <a:sym typeface="Calibri"/>
                      </a:endParaRPr>
                    </a:p>
                  </a:txBody>
                  <a:tcPr marL="91425" marR="91425" marT="91425" marB="91425"/>
                </a:tc>
                <a:tc>
                  <a:txBody>
                    <a:bodyPr/>
                    <a:lstStyle/>
                    <a:p>
                      <a:pPr marL="0" lvl="0" indent="0" algn="ctr" rtl="0">
                        <a:spcBef>
                          <a:spcPts val="0"/>
                        </a:spcBef>
                        <a:spcAft>
                          <a:spcPts val="0"/>
                        </a:spcAft>
                        <a:buNone/>
                      </a:pPr>
                      <a:r>
                        <a:rPr lang="en-US" sz="1200" b="1">
                          <a:latin typeface="Calibri"/>
                          <a:ea typeface="Calibri"/>
                          <a:cs typeface="Calibri"/>
                          <a:sym typeface="Calibri"/>
                        </a:rPr>
                        <a:t>Literature Title</a:t>
                      </a:r>
                      <a:endParaRPr sz="1200" b="1">
                        <a:latin typeface="Calibri"/>
                        <a:ea typeface="Calibri"/>
                        <a:cs typeface="Calibri"/>
                        <a:sym typeface="Calibri"/>
                      </a:endParaRPr>
                    </a:p>
                  </a:txBody>
                  <a:tcPr marL="91425" marR="91425" marT="91425" marB="91425"/>
                </a:tc>
                <a:tc>
                  <a:txBody>
                    <a:bodyPr/>
                    <a:lstStyle/>
                    <a:p>
                      <a:pPr marL="0" lvl="0" indent="0" algn="ctr" rtl="0">
                        <a:spcBef>
                          <a:spcPts val="0"/>
                        </a:spcBef>
                        <a:spcAft>
                          <a:spcPts val="0"/>
                        </a:spcAft>
                        <a:buNone/>
                      </a:pPr>
                      <a:r>
                        <a:rPr lang="en-US" sz="1200" b="1">
                          <a:latin typeface="Calibri"/>
                          <a:ea typeface="Calibri"/>
                          <a:cs typeface="Calibri"/>
                          <a:sym typeface="Calibri"/>
                        </a:rPr>
                        <a:t>Author</a:t>
                      </a:r>
                      <a:endParaRPr sz="1200" b="1">
                        <a:latin typeface="Calibri"/>
                        <a:ea typeface="Calibri"/>
                        <a:cs typeface="Calibri"/>
                        <a:sym typeface="Calibri"/>
                      </a:endParaRPr>
                    </a:p>
                  </a:txBody>
                  <a:tcPr marL="91425" marR="91425" marT="91425" marB="91425"/>
                </a:tc>
                <a:tc>
                  <a:txBody>
                    <a:bodyPr/>
                    <a:lstStyle/>
                    <a:p>
                      <a:pPr marL="0" lvl="0" indent="0" algn="ctr" rtl="0">
                        <a:spcBef>
                          <a:spcPts val="0"/>
                        </a:spcBef>
                        <a:spcAft>
                          <a:spcPts val="0"/>
                        </a:spcAft>
                        <a:buNone/>
                      </a:pPr>
                      <a:r>
                        <a:rPr lang="en-US" sz="1200" b="1">
                          <a:latin typeface="Calibri"/>
                          <a:ea typeface="Calibri"/>
                          <a:cs typeface="Calibri"/>
                          <a:sym typeface="Calibri"/>
                        </a:rPr>
                        <a:t>Findings</a:t>
                      </a:r>
                      <a:endParaRPr sz="1200" b="1">
                        <a:latin typeface="Calibri"/>
                        <a:ea typeface="Calibri"/>
                        <a:cs typeface="Calibri"/>
                        <a:sym typeface="Calibri"/>
                      </a:endParaRPr>
                    </a:p>
                  </a:txBody>
                  <a:tcPr marL="91425" marR="91425" marT="91425" marB="91425"/>
                </a:tc>
                <a:extLst>
                  <a:ext uri="{0D108BD9-81ED-4DB2-BD59-A6C34878D82A}">
                    <a16:rowId xmlns:a16="http://schemas.microsoft.com/office/drawing/2014/main" val="10000"/>
                  </a:ext>
                </a:extLst>
              </a:tr>
              <a:tr h="929453">
                <a:tc>
                  <a:txBody>
                    <a:bodyPr/>
                    <a:lstStyle/>
                    <a:p>
                      <a:pPr marL="0" lvl="0" indent="0" algn="ctr" rtl="0">
                        <a:spcBef>
                          <a:spcPts val="0"/>
                        </a:spcBef>
                        <a:spcAft>
                          <a:spcPts val="0"/>
                        </a:spcAft>
                        <a:buNone/>
                      </a:pPr>
                      <a:r>
                        <a:rPr lang="en-US" sz="1200">
                          <a:latin typeface="Calibri"/>
                          <a:ea typeface="Calibri"/>
                          <a:cs typeface="Calibri"/>
                          <a:sym typeface="Calibri"/>
                        </a:rPr>
                        <a:t>1.</a:t>
                      </a:r>
                      <a:endParaRPr sz="1200">
                        <a:latin typeface="Calibri"/>
                        <a:ea typeface="Calibri"/>
                        <a:cs typeface="Calibri"/>
                        <a:sym typeface="Calibri"/>
                      </a:endParaRPr>
                    </a:p>
                  </a:txBody>
                  <a:tcPr marL="91425" marR="91425" marT="91425" marB="91425"/>
                </a:tc>
                <a:tc>
                  <a:txBody>
                    <a:bodyPr/>
                    <a:lstStyle/>
                    <a:p>
                      <a:pPr marL="0" lvl="0" indent="0" algn="l" rtl="0">
                        <a:spcBef>
                          <a:spcPts val="0"/>
                        </a:spcBef>
                        <a:spcAft>
                          <a:spcPts val="0"/>
                        </a:spcAft>
                        <a:buNone/>
                      </a:pPr>
                      <a:r>
                        <a:rPr lang="en-US" sz="1200" dirty="0"/>
                        <a:t>AI-Powered Contactless Interface for Smart Classrooms (2020)</a:t>
                      </a:r>
                      <a:endParaRPr sz="1200" dirty="0">
                        <a:latin typeface="Calibri"/>
                        <a:ea typeface="Calibri"/>
                        <a:cs typeface="Calibri"/>
                        <a:sym typeface="Calibri"/>
                      </a:endParaRPr>
                    </a:p>
                  </a:txBody>
                  <a:tcPr marL="91425" marR="91425" marT="91425" marB="91425"/>
                </a:tc>
                <a:tc>
                  <a:txBody>
                    <a:bodyPr/>
                    <a:lstStyle/>
                    <a:p>
                      <a:pPr marL="0" lvl="0" indent="0" algn="l" rtl="0">
                        <a:spcBef>
                          <a:spcPts val="0"/>
                        </a:spcBef>
                        <a:spcAft>
                          <a:spcPts val="0"/>
                        </a:spcAft>
                        <a:buNone/>
                      </a:pPr>
                      <a:r>
                        <a:rPr lang="en-IN" sz="1200" dirty="0"/>
                        <a:t>Dr. Ramesh Sharma, Anjali Verma, Priya Mehta</a:t>
                      </a:r>
                      <a:endParaRPr sz="1200" dirty="0">
                        <a:latin typeface="Calibri"/>
                        <a:ea typeface="Calibri"/>
                        <a:cs typeface="Calibri"/>
                        <a:sym typeface="Calibri"/>
                      </a:endParaRPr>
                    </a:p>
                  </a:txBody>
                  <a:tcPr marL="91425" marR="91425" marT="91425" marB="91425"/>
                </a:tc>
                <a:tc>
                  <a:txBody>
                    <a:bodyPr/>
                    <a:lstStyle/>
                    <a:p>
                      <a:pPr marL="152400" lvl="0" indent="0" algn="l" rtl="0">
                        <a:spcBef>
                          <a:spcPts val="0"/>
                        </a:spcBef>
                        <a:spcAft>
                          <a:spcPts val="0"/>
                        </a:spcAft>
                        <a:buSzPts val="1200"/>
                        <a:buFont typeface="Calibri"/>
                        <a:buNone/>
                      </a:pPr>
                      <a:r>
                        <a:rPr lang="en-US" sz="1200" dirty="0"/>
                        <a:t>Proposed hygienic, AI-driven gesture control for classrooms, especially relevant during the pandemic.</a:t>
                      </a:r>
                      <a:endParaRPr sz="1200" dirty="0">
                        <a:latin typeface="Calibri"/>
                        <a:ea typeface="Calibri"/>
                        <a:cs typeface="Calibri"/>
                        <a:sym typeface="Calibri"/>
                      </a:endParaRPr>
                    </a:p>
                  </a:txBody>
                  <a:tcPr marL="91425" marR="91425" marT="91425" marB="91425"/>
                </a:tc>
                <a:extLst>
                  <a:ext uri="{0D108BD9-81ED-4DB2-BD59-A6C34878D82A}">
                    <a16:rowId xmlns:a16="http://schemas.microsoft.com/office/drawing/2014/main" val="10001"/>
                  </a:ext>
                </a:extLst>
              </a:tr>
              <a:tr h="995025">
                <a:tc>
                  <a:txBody>
                    <a:bodyPr/>
                    <a:lstStyle/>
                    <a:p>
                      <a:pPr marL="0" lvl="0" indent="0" algn="ctr" rtl="0">
                        <a:spcBef>
                          <a:spcPts val="0"/>
                        </a:spcBef>
                        <a:spcAft>
                          <a:spcPts val="0"/>
                        </a:spcAft>
                        <a:buNone/>
                      </a:pPr>
                      <a:r>
                        <a:rPr lang="en-US" sz="1200">
                          <a:latin typeface="Calibri"/>
                          <a:ea typeface="Calibri"/>
                          <a:cs typeface="Calibri"/>
                          <a:sym typeface="Calibri"/>
                        </a:rPr>
                        <a:t>2.</a:t>
                      </a:r>
                      <a:endParaRPr sz="1200">
                        <a:latin typeface="Calibri"/>
                        <a:ea typeface="Calibri"/>
                        <a:cs typeface="Calibri"/>
                        <a:sym typeface="Calibri"/>
                      </a:endParaRPr>
                    </a:p>
                  </a:txBody>
                  <a:tcPr marL="91425" marR="91425" marT="91425" marB="91425"/>
                </a:tc>
                <a:tc>
                  <a:txBody>
                    <a:bodyPr/>
                    <a:lstStyle/>
                    <a:p>
                      <a:pPr marL="0" lvl="0" indent="0" algn="l" rtl="0">
                        <a:spcBef>
                          <a:spcPts val="0"/>
                        </a:spcBef>
                        <a:spcAft>
                          <a:spcPts val="0"/>
                        </a:spcAft>
                        <a:buNone/>
                      </a:pPr>
                      <a:r>
                        <a:rPr lang="en-US" sz="1200" dirty="0"/>
                        <a:t>Real-time Hand Gesture Recognition for Touchless Presentation Control Using </a:t>
                      </a:r>
                      <a:r>
                        <a:rPr lang="en-US" sz="1200" dirty="0" err="1"/>
                        <a:t>MediaPipe</a:t>
                      </a:r>
                      <a:r>
                        <a:rPr lang="en-US" sz="1200" dirty="0"/>
                        <a:t> (2022)</a:t>
                      </a:r>
                      <a:endParaRPr sz="1200" dirty="0">
                        <a:latin typeface="Calibri"/>
                        <a:ea typeface="Calibri"/>
                        <a:cs typeface="Calibri"/>
                        <a:sym typeface="Calibri"/>
                      </a:endParaRPr>
                    </a:p>
                  </a:txBody>
                  <a:tcPr marL="91425" marR="91425" marT="91425" marB="91425"/>
                </a:tc>
                <a:tc>
                  <a:txBody>
                    <a:bodyPr/>
                    <a:lstStyle/>
                    <a:p>
                      <a:pPr marL="0" lvl="0" indent="0" algn="l" rtl="0">
                        <a:spcBef>
                          <a:spcPts val="0"/>
                        </a:spcBef>
                        <a:spcAft>
                          <a:spcPts val="0"/>
                        </a:spcAft>
                        <a:buNone/>
                      </a:pPr>
                      <a:r>
                        <a:rPr lang="en-US" sz="1200" dirty="0">
                          <a:latin typeface="Calibri"/>
                          <a:ea typeface="Calibri"/>
                          <a:cs typeface="Calibri"/>
                          <a:sym typeface="Calibri"/>
                        </a:rPr>
                        <a:t> </a:t>
                      </a:r>
                      <a:r>
                        <a:rPr lang="nn-NO" sz="1200" dirty="0"/>
                        <a:t>Harshil Patel, Neha Joshi, Akash Bhandari</a:t>
                      </a:r>
                      <a:endParaRPr sz="1200" dirty="0">
                        <a:latin typeface="Calibri"/>
                        <a:ea typeface="Calibri"/>
                        <a:cs typeface="Calibri"/>
                        <a:sym typeface="Calibri"/>
                      </a:endParaRPr>
                    </a:p>
                  </a:txBody>
                  <a:tcPr marL="91425" marR="91425" marT="91425" marB="91425"/>
                </a:tc>
                <a:tc>
                  <a:txBody>
                    <a:bodyPr/>
                    <a:lstStyle/>
                    <a:p>
                      <a:pPr marL="152400" lvl="0" indent="0" algn="l" rtl="0">
                        <a:spcBef>
                          <a:spcPts val="0"/>
                        </a:spcBef>
                        <a:spcAft>
                          <a:spcPts val="0"/>
                        </a:spcAft>
                        <a:buSzPts val="1200"/>
                        <a:buFont typeface="Calibri"/>
                        <a:buNone/>
                      </a:pPr>
                      <a:r>
                        <a:rPr lang="en-US" sz="1200" dirty="0"/>
                        <a:t>Utilized Google’s </a:t>
                      </a:r>
                      <a:r>
                        <a:rPr lang="en-US" sz="1200" dirty="0" err="1"/>
                        <a:t>MediaPipe</a:t>
                      </a:r>
                      <a:r>
                        <a:rPr lang="en-US" sz="1200" dirty="0"/>
                        <a:t> framework for efficient and real-time hand gesture recognition using standard webcams.</a:t>
                      </a:r>
                      <a:endParaRPr sz="1200" dirty="0">
                        <a:solidFill>
                          <a:srgbClr val="000000"/>
                        </a:solidFill>
                        <a:latin typeface="Calibri"/>
                        <a:ea typeface="Calibri"/>
                        <a:cs typeface="Calibri"/>
                        <a:sym typeface="Calibri"/>
                      </a:endParaRPr>
                    </a:p>
                  </a:txBody>
                  <a:tcPr marL="91425" marR="91425" marT="91425" marB="91425"/>
                </a:tc>
                <a:extLst>
                  <a:ext uri="{0D108BD9-81ED-4DB2-BD59-A6C34878D82A}">
                    <a16:rowId xmlns:a16="http://schemas.microsoft.com/office/drawing/2014/main" val="10002"/>
                  </a:ext>
                </a:extLst>
              </a:tr>
              <a:tr h="957325">
                <a:tc>
                  <a:txBody>
                    <a:bodyPr/>
                    <a:lstStyle/>
                    <a:p>
                      <a:pPr marL="0" lvl="0" indent="0" algn="ctr" rtl="0">
                        <a:spcBef>
                          <a:spcPts val="0"/>
                        </a:spcBef>
                        <a:spcAft>
                          <a:spcPts val="0"/>
                        </a:spcAft>
                        <a:buNone/>
                      </a:pPr>
                      <a:r>
                        <a:rPr lang="en-US" sz="1200">
                          <a:latin typeface="Calibri"/>
                          <a:ea typeface="Calibri"/>
                          <a:cs typeface="Calibri"/>
                          <a:sym typeface="Calibri"/>
                        </a:rPr>
                        <a:t>3.</a:t>
                      </a:r>
                      <a:endParaRPr sz="1200">
                        <a:latin typeface="Calibri"/>
                        <a:ea typeface="Calibri"/>
                        <a:cs typeface="Calibri"/>
                        <a:sym typeface="Calibri"/>
                      </a:endParaRPr>
                    </a:p>
                  </a:txBody>
                  <a:tcPr marL="91425" marR="91425" marT="91425" marB="91425"/>
                </a:tc>
                <a:tc>
                  <a:txBody>
                    <a:bodyPr/>
                    <a:lstStyle/>
                    <a:p>
                      <a:pPr marL="0" lvl="0" indent="0" algn="l" rtl="0">
                        <a:spcBef>
                          <a:spcPts val="0"/>
                        </a:spcBef>
                        <a:spcAft>
                          <a:spcPts val="0"/>
                        </a:spcAft>
                        <a:buNone/>
                      </a:pPr>
                      <a:r>
                        <a:rPr lang="en-US" sz="1200" dirty="0"/>
                        <a:t>Gesture Recognition Based Smart Presentation System Using YOLO and OpenCV (2023)</a:t>
                      </a:r>
                      <a:endParaRPr sz="1200" dirty="0">
                        <a:latin typeface="Calibri"/>
                        <a:ea typeface="Calibri"/>
                        <a:cs typeface="Calibri"/>
                        <a:sym typeface="Calibri"/>
                      </a:endParaRPr>
                    </a:p>
                  </a:txBody>
                  <a:tcPr marL="91425" marR="91425" marT="91425" marB="91425"/>
                </a:tc>
                <a:tc>
                  <a:txBody>
                    <a:bodyPr/>
                    <a:lstStyle/>
                    <a:p>
                      <a:pPr marL="0" lvl="0" indent="0" algn="l" rtl="0">
                        <a:spcBef>
                          <a:spcPts val="0"/>
                        </a:spcBef>
                        <a:spcAft>
                          <a:spcPts val="0"/>
                        </a:spcAft>
                        <a:buNone/>
                      </a:pPr>
                      <a:r>
                        <a:rPr lang="en-IN" sz="1200" dirty="0"/>
                        <a:t>Sandeep Reddy, Kavya Nair, Ritu Sharma</a:t>
                      </a:r>
                      <a:endParaRPr sz="1200" dirty="0">
                        <a:latin typeface="Calibri"/>
                        <a:ea typeface="Calibri"/>
                        <a:cs typeface="Calibri"/>
                        <a:sym typeface="Calibri"/>
                      </a:endParaRPr>
                    </a:p>
                  </a:txBody>
                  <a:tcPr marL="91425" marR="91425" marT="91425" marB="91425"/>
                </a:tc>
                <a:tc>
                  <a:txBody>
                    <a:bodyPr/>
                    <a:lstStyle/>
                    <a:p>
                      <a:pPr marL="152400" lvl="0" indent="0" algn="l" rtl="0">
                        <a:spcBef>
                          <a:spcPts val="0"/>
                        </a:spcBef>
                        <a:spcAft>
                          <a:spcPts val="0"/>
                        </a:spcAft>
                        <a:buSzPts val="1200"/>
                        <a:buFont typeface="Calibri"/>
                        <a:buNone/>
                      </a:pPr>
                      <a:r>
                        <a:rPr lang="en-US" sz="1200" dirty="0"/>
                        <a:t>Combined YOLO object detection with OpenCV gesture tracking to create a responsive, touchless presentation control interface.</a:t>
                      </a:r>
                      <a:endParaRPr sz="1200" dirty="0">
                        <a:solidFill>
                          <a:srgbClr val="000000"/>
                        </a:solidFill>
                        <a:latin typeface="Calibri"/>
                        <a:ea typeface="Calibri"/>
                        <a:cs typeface="Calibri"/>
                        <a:sym typeface="Calibri"/>
                      </a:endParaRPr>
                    </a:p>
                  </a:txBody>
                  <a:tcPr marL="91425" marR="91425" marT="91425" marB="91425"/>
                </a:tc>
                <a:extLst>
                  <a:ext uri="{0D108BD9-81ED-4DB2-BD59-A6C34878D82A}">
                    <a16:rowId xmlns:a16="http://schemas.microsoft.com/office/drawing/2014/main" val="10003"/>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7"/>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SzPts val="1800"/>
              <a:buNone/>
            </a:pPr>
            <a:fld id="{00000000-1234-1234-1234-123412341234}" type="slidenum">
              <a:rPr lang="en-US"/>
              <a:t>7</a:t>
            </a:fld>
            <a:endParaRPr/>
          </a:p>
        </p:txBody>
      </p:sp>
      <p:sp>
        <p:nvSpPr>
          <p:cNvPr id="109" name="Google Shape;109;p7"/>
          <p:cNvSpPr txBox="1"/>
          <p:nvPr/>
        </p:nvSpPr>
        <p:spPr>
          <a:xfrm>
            <a:off x="1379346" y="6104088"/>
            <a:ext cx="7378753" cy="672897"/>
          </a:xfrm>
          <a:prstGeom prst="rect">
            <a:avLst/>
          </a:prstGeom>
          <a:noFill/>
          <a:ln>
            <a:noFill/>
          </a:ln>
        </p:spPr>
        <p:txBody>
          <a:bodyPr spcFirstLastPara="1" wrap="square" lIns="0" tIns="12700" rIns="0" bIns="0" anchor="t" anchorCtr="0">
            <a:noAutofit/>
          </a:bodyPr>
          <a:lstStyle/>
          <a:p>
            <a:pPr marL="12700" marR="0" lvl="0" indent="0" algn="ctr" rtl="0">
              <a:lnSpc>
                <a:spcPct val="100000"/>
              </a:lnSpc>
              <a:spcBef>
                <a:spcPts val="0"/>
              </a:spcBef>
              <a:spcAft>
                <a:spcPts val="0"/>
              </a:spcAft>
              <a:buClr>
                <a:srgbClr val="000000"/>
              </a:buClr>
              <a:buSzPts val="1800"/>
              <a:buFont typeface="Arial"/>
              <a:buNone/>
            </a:pPr>
            <a:r>
              <a:rPr lang="en-US" sz="1800" b="1" i="1" u="none" strike="noStrike" cap="none">
                <a:solidFill>
                  <a:srgbClr val="C00000"/>
                </a:solidFill>
                <a:latin typeface="Times New Roman"/>
                <a:ea typeface="Times New Roman"/>
                <a:cs typeface="Times New Roman"/>
                <a:sym typeface="Times New Roman"/>
              </a:rPr>
              <a:t>Department of Computer Science &amp; Engineering, MITSoE, Loni Kalbhor</a:t>
            </a:r>
            <a:endParaRPr sz="1800" b="1" i="1" u="none" strike="noStrike" cap="none">
              <a:solidFill>
                <a:srgbClr val="C00000"/>
              </a:solidFill>
              <a:latin typeface="Times New Roman"/>
              <a:ea typeface="Times New Roman"/>
              <a:cs typeface="Times New Roman"/>
              <a:sym typeface="Times New Roman"/>
            </a:endParaRPr>
          </a:p>
        </p:txBody>
      </p:sp>
      <p:pic>
        <p:nvPicPr>
          <p:cNvPr id="110" name="Google Shape;110;p7"/>
          <p:cNvPicPr preferRelativeResize="0"/>
          <p:nvPr/>
        </p:nvPicPr>
        <p:blipFill rotWithShape="1">
          <a:blip r:embed="rId3">
            <a:alphaModFix/>
          </a:blip>
          <a:srcRect/>
          <a:stretch/>
        </p:blipFill>
        <p:spPr>
          <a:xfrm>
            <a:off x="0" y="5812967"/>
            <a:ext cx="999854" cy="1020451"/>
          </a:xfrm>
          <a:prstGeom prst="rect">
            <a:avLst/>
          </a:prstGeom>
          <a:noFill/>
          <a:ln>
            <a:noFill/>
          </a:ln>
        </p:spPr>
      </p:pic>
      <p:sp>
        <p:nvSpPr>
          <p:cNvPr id="111" name="Google Shape;111;p7"/>
          <p:cNvSpPr txBox="1"/>
          <p:nvPr/>
        </p:nvSpPr>
        <p:spPr>
          <a:xfrm>
            <a:off x="365125" y="387350"/>
            <a:ext cx="8638200" cy="4371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900" b="1" dirty="0">
                <a:solidFill>
                  <a:srgbClr val="BF9000"/>
                </a:solidFill>
                <a:latin typeface="Calibri"/>
                <a:ea typeface="Calibri"/>
                <a:cs typeface="Calibri"/>
                <a:sym typeface="Calibri"/>
              </a:rPr>
              <a:t>Identification of Gaps</a:t>
            </a:r>
            <a:endParaRPr sz="1900" b="1" dirty="0">
              <a:solidFill>
                <a:srgbClr val="BF9000"/>
              </a:solidFill>
              <a:latin typeface="Calibri"/>
              <a:ea typeface="Calibri"/>
              <a:cs typeface="Calibri"/>
              <a:sym typeface="Calibri"/>
            </a:endParaRPr>
          </a:p>
          <a:p>
            <a:pPr marL="0" lvl="0" indent="0" algn="l" rtl="0">
              <a:spcBef>
                <a:spcPts val="0"/>
              </a:spcBef>
              <a:spcAft>
                <a:spcPts val="0"/>
              </a:spcAft>
              <a:buNone/>
            </a:pPr>
            <a:endParaRPr sz="1200" b="1" u="sng" dirty="0">
              <a:latin typeface="Calibri"/>
              <a:ea typeface="Calibri"/>
              <a:cs typeface="Calibri"/>
              <a:sym typeface="Calibri"/>
            </a:endParaRPr>
          </a:p>
          <a:p>
            <a:r>
              <a:rPr lang="en-US" b="1" dirty="0">
                <a:latin typeface="Times New Roman" panose="02020603050405020304" pitchFamily="18" charset="0"/>
                <a:cs typeface="Times New Roman" panose="02020603050405020304" pitchFamily="18" charset="0"/>
              </a:rPr>
              <a:t>Dependence on Physical Devices:</a:t>
            </a:r>
            <a:r>
              <a:rPr lang="en-US" dirty="0">
                <a:latin typeface="Times New Roman" panose="02020603050405020304" pitchFamily="18" charset="0"/>
                <a:cs typeface="Times New Roman" panose="02020603050405020304" pitchFamily="18" charset="0"/>
              </a:rPr>
              <a:t> Current presentation systems mostly rely on external hardware like remotes, keyboards, or mice, limiting the speaker's freedom of movement.</a:t>
            </a:r>
          </a:p>
          <a:p>
            <a:r>
              <a:rPr lang="en-US" b="1" dirty="0">
                <a:latin typeface="Times New Roman" panose="02020603050405020304" pitchFamily="18" charset="0"/>
                <a:cs typeface="Times New Roman" panose="02020603050405020304" pitchFamily="18" charset="0"/>
              </a:rPr>
              <a:t>Lack of Natural Interaction:</a:t>
            </a:r>
            <a:r>
              <a:rPr lang="en-US" dirty="0">
                <a:latin typeface="Times New Roman" panose="02020603050405020304" pitchFamily="18" charset="0"/>
                <a:cs typeface="Times New Roman" panose="02020603050405020304" pitchFamily="18" charset="0"/>
              </a:rPr>
              <a:t> Many existing systems do not support natural human gestures, making the interaction less intuitive and sometimes distracting during live presentations.</a:t>
            </a:r>
          </a:p>
          <a:p>
            <a:r>
              <a:rPr lang="en-US" b="1" dirty="0">
                <a:latin typeface="Times New Roman" panose="02020603050405020304" pitchFamily="18" charset="0"/>
                <a:cs typeface="Times New Roman" panose="02020603050405020304" pitchFamily="18" charset="0"/>
              </a:rPr>
              <a:t>Limited Accessibility:</a:t>
            </a:r>
            <a:r>
              <a:rPr lang="en-US" dirty="0">
                <a:latin typeface="Times New Roman" panose="02020603050405020304" pitchFamily="18" charset="0"/>
                <a:cs typeface="Times New Roman" panose="02020603050405020304" pitchFamily="18" charset="0"/>
              </a:rPr>
              <a:t> There is a lack of inclusive solutions that support touchless interaction, which can benefit individuals with physical disabilities or in environments where hygiene is critical.</a:t>
            </a:r>
          </a:p>
          <a:p>
            <a:pPr marL="0" lvl="0" indent="0" algn="l" rtl="0">
              <a:spcBef>
                <a:spcPts val="0"/>
              </a:spcBef>
              <a:spcAft>
                <a:spcPts val="0"/>
              </a:spcAft>
              <a:buNone/>
            </a:pPr>
            <a:endParaRPr sz="1200" dirty="0">
              <a:latin typeface="Calibri"/>
              <a:ea typeface="Calibri"/>
              <a:cs typeface="Calibri"/>
              <a:sym typeface="Calibri"/>
            </a:endParaRPr>
          </a:p>
          <a:p>
            <a:pPr marL="0" lvl="0" indent="0" algn="l" rtl="0">
              <a:spcBef>
                <a:spcPts val="0"/>
              </a:spcBef>
              <a:spcAft>
                <a:spcPts val="0"/>
              </a:spcAft>
              <a:buNone/>
            </a:pPr>
            <a:r>
              <a:rPr lang="en-US" sz="1900" b="1" dirty="0">
                <a:solidFill>
                  <a:srgbClr val="BF9000"/>
                </a:solidFill>
                <a:latin typeface="Calibri"/>
                <a:ea typeface="Calibri"/>
                <a:cs typeface="Calibri"/>
                <a:sym typeface="Calibri"/>
              </a:rPr>
              <a:t>Scope of Work</a:t>
            </a:r>
          </a:p>
          <a:p>
            <a:pPr marL="0" lvl="0" indent="0" algn="l" rtl="0">
              <a:spcBef>
                <a:spcPts val="0"/>
              </a:spcBef>
              <a:spcAft>
                <a:spcPts val="0"/>
              </a:spcAft>
              <a:buNone/>
            </a:pPr>
            <a:endParaRPr sz="1900" b="1" dirty="0">
              <a:solidFill>
                <a:srgbClr val="BF9000"/>
              </a:solidFill>
              <a:latin typeface="Calibri"/>
              <a:ea typeface="Calibri"/>
              <a:cs typeface="Calibri"/>
              <a:sym typeface="Calibri"/>
            </a:endParaRPr>
          </a:p>
          <a:p>
            <a:r>
              <a:rPr lang="en-US" b="1" dirty="0"/>
              <a:t>Real-Time Gesture Control:</a:t>
            </a:r>
            <a:r>
              <a:rPr lang="en-US" dirty="0"/>
              <a:t> This system can be used to navigate slides during presentations using simple hand gestures, providing a more fluid and engaging experience.</a:t>
            </a:r>
          </a:p>
          <a:p>
            <a:r>
              <a:rPr lang="en-US" b="1" dirty="0"/>
              <a:t>Wide Application Areas:</a:t>
            </a:r>
            <a:r>
              <a:rPr lang="en-US" dirty="0"/>
              <a:t> It can be implemented in classrooms, corporate settings, virtual meetings, exhibitions, and even in touchless kiosks or smart boards.</a:t>
            </a:r>
          </a:p>
          <a:p>
            <a:r>
              <a:rPr lang="en-US" b="1" dirty="0"/>
              <a:t>Future Enhancements:</a:t>
            </a:r>
            <a:r>
              <a:rPr lang="en-US" dirty="0"/>
              <a:t> The system can be expanded to recognize a wider variety of gestures, include voice commands, support multiple users, or even integrate with VR/AR for immersive experiences.</a:t>
            </a:r>
          </a:p>
          <a:p>
            <a:pPr marL="0" lvl="0" indent="0" algn="l" rtl="0">
              <a:spcBef>
                <a:spcPts val="0"/>
              </a:spcBef>
              <a:spcAft>
                <a:spcPts val="0"/>
              </a:spcAft>
              <a:buNone/>
            </a:pPr>
            <a:endParaRPr b="1" dirty="0">
              <a:solidFill>
                <a:srgbClr val="BF9000"/>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10"/>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SzPts val="1800"/>
              <a:buNone/>
            </a:pPr>
            <a:fld id="{00000000-1234-1234-1234-123412341234}" type="slidenum">
              <a:rPr lang="en-US"/>
              <a:t>8</a:t>
            </a:fld>
            <a:endParaRPr/>
          </a:p>
        </p:txBody>
      </p:sp>
      <p:sp>
        <p:nvSpPr>
          <p:cNvPr id="178" name="Google Shape;178;p10"/>
          <p:cNvSpPr txBox="1"/>
          <p:nvPr/>
        </p:nvSpPr>
        <p:spPr>
          <a:xfrm>
            <a:off x="417094" y="224589"/>
            <a:ext cx="8010213" cy="5780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n-US" sz="2800" b="1" i="0" u="none" strike="noStrike" cap="none">
                <a:solidFill>
                  <a:srgbClr val="C00000"/>
                </a:solidFill>
                <a:latin typeface="Times New Roman"/>
                <a:ea typeface="Times New Roman"/>
                <a:cs typeface="Times New Roman"/>
                <a:sym typeface="Times New Roman"/>
              </a:rPr>
              <a:t>6. Tools and Languages</a:t>
            </a:r>
            <a:r>
              <a:rPr lang="en-US" sz="2200" b="0" i="0" u="none" strike="noStrike" cap="none">
                <a:solidFill>
                  <a:srgbClr val="C00000"/>
                </a:solidFill>
                <a:latin typeface="Times New Roman"/>
                <a:ea typeface="Times New Roman"/>
                <a:cs typeface="Times New Roman"/>
                <a:sym typeface="Times New Roman"/>
              </a:rPr>
              <a:t> </a:t>
            </a:r>
            <a:endParaRPr/>
          </a:p>
        </p:txBody>
      </p:sp>
      <p:sp>
        <p:nvSpPr>
          <p:cNvPr id="179" name="Google Shape;179;p10"/>
          <p:cNvSpPr txBox="1"/>
          <p:nvPr/>
        </p:nvSpPr>
        <p:spPr>
          <a:xfrm>
            <a:off x="1379346" y="6104088"/>
            <a:ext cx="7378753" cy="672897"/>
          </a:xfrm>
          <a:prstGeom prst="rect">
            <a:avLst/>
          </a:prstGeom>
          <a:noFill/>
          <a:ln>
            <a:noFill/>
          </a:ln>
        </p:spPr>
        <p:txBody>
          <a:bodyPr spcFirstLastPara="1" wrap="square" lIns="0" tIns="12700" rIns="0" bIns="0" anchor="t" anchorCtr="0">
            <a:noAutofit/>
          </a:bodyPr>
          <a:lstStyle/>
          <a:p>
            <a:pPr marL="12700" marR="0" lvl="0" indent="0" algn="ctr" rtl="0">
              <a:lnSpc>
                <a:spcPct val="100000"/>
              </a:lnSpc>
              <a:spcBef>
                <a:spcPts val="0"/>
              </a:spcBef>
              <a:spcAft>
                <a:spcPts val="0"/>
              </a:spcAft>
              <a:buClr>
                <a:srgbClr val="000000"/>
              </a:buClr>
              <a:buSzPts val="1800"/>
              <a:buFont typeface="Arial"/>
              <a:buNone/>
            </a:pPr>
            <a:r>
              <a:rPr lang="en-US" sz="1800" b="1" i="1" u="none" strike="noStrike" cap="none">
                <a:solidFill>
                  <a:srgbClr val="C00000"/>
                </a:solidFill>
                <a:latin typeface="Times New Roman"/>
                <a:ea typeface="Times New Roman"/>
                <a:cs typeface="Times New Roman"/>
                <a:sym typeface="Times New Roman"/>
              </a:rPr>
              <a:t>Department of Computer Science &amp; Engineering, MITSoE, Loni Kalbhor</a:t>
            </a:r>
            <a:endParaRPr sz="1800" b="1" i="1" u="none" strike="noStrike" cap="none">
              <a:solidFill>
                <a:srgbClr val="C00000"/>
              </a:solidFill>
              <a:latin typeface="Times New Roman"/>
              <a:ea typeface="Times New Roman"/>
              <a:cs typeface="Times New Roman"/>
              <a:sym typeface="Times New Roman"/>
            </a:endParaRPr>
          </a:p>
        </p:txBody>
      </p:sp>
      <p:pic>
        <p:nvPicPr>
          <p:cNvPr id="180" name="Google Shape;180;p10"/>
          <p:cNvPicPr preferRelativeResize="0"/>
          <p:nvPr/>
        </p:nvPicPr>
        <p:blipFill rotWithShape="1">
          <a:blip r:embed="rId3">
            <a:alphaModFix/>
          </a:blip>
          <a:srcRect/>
          <a:stretch/>
        </p:blipFill>
        <p:spPr>
          <a:xfrm>
            <a:off x="0" y="5812967"/>
            <a:ext cx="999854" cy="1020451"/>
          </a:xfrm>
          <a:prstGeom prst="rect">
            <a:avLst/>
          </a:prstGeom>
          <a:noFill/>
          <a:ln>
            <a:noFill/>
          </a:ln>
        </p:spPr>
      </p:pic>
      <p:sp>
        <p:nvSpPr>
          <p:cNvPr id="2" name="Rectangle 1"/>
          <p:cNvSpPr>
            <a:spLocks noChangeArrowheads="1"/>
          </p:cNvSpPr>
          <p:nvPr/>
        </p:nvSpPr>
        <p:spPr bwMode="auto">
          <a:xfrm>
            <a:off x="120718" y="1270422"/>
            <a:ext cx="8789575"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OpenCV</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For image and video processing, including frame capture, color filtering, and contour detection.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MediaPip</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powerful framework by Google for real-time hand tracking and gesture recognition using pre-trained models.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PyAutoGUI</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Used to simulate keyboard inputs (like pressing the left/right arrow key) for controlling presentation software.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NumPy</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For efficient numerical operations on arrays and image data during processing.</a:t>
            </a:r>
          </a:p>
          <a:p>
            <a:endParaRPr lang="en-US" dirty="0">
              <a:solidFill>
                <a:schemeClr val="tx1"/>
              </a:solidFill>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Programming Language Used:</a:t>
            </a:r>
          </a:p>
          <a:p>
            <a:r>
              <a:rPr lang="en-US" b="1" dirty="0">
                <a:latin typeface="Times New Roman" panose="02020603050405020304" pitchFamily="18" charset="0"/>
                <a:cs typeface="Times New Roman" panose="02020603050405020304" pitchFamily="18" charset="0"/>
              </a:rPr>
              <a:t>Python</a:t>
            </a:r>
            <a:endParaRPr lang="en-US"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Chosen for its simplicity, rich ecosystem of libraries, and strong support for computer vision and automation tasks.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12"/>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SzPts val="1800"/>
              <a:buNone/>
            </a:pPr>
            <a:fld id="{00000000-1234-1234-1234-123412341234}" type="slidenum">
              <a:rPr lang="en-US"/>
              <a:t>9</a:t>
            </a:fld>
            <a:endParaRPr/>
          </a:p>
        </p:txBody>
      </p:sp>
      <p:sp>
        <p:nvSpPr>
          <p:cNvPr id="118" name="Google Shape;118;p12"/>
          <p:cNvSpPr txBox="1"/>
          <p:nvPr/>
        </p:nvSpPr>
        <p:spPr>
          <a:xfrm>
            <a:off x="417094" y="224589"/>
            <a:ext cx="8010213" cy="5780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n-US" sz="2800" b="1" dirty="0">
                <a:solidFill>
                  <a:srgbClr val="C00000"/>
                </a:solidFill>
                <a:latin typeface="Times New Roman"/>
                <a:ea typeface="Times New Roman"/>
                <a:cs typeface="Times New Roman"/>
                <a:sym typeface="Times New Roman"/>
              </a:rPr>
              <a:t>7</a:t>
            </a:r>
            <a:r>
              <a:rPr lang="en-US" sz="2800" b="1" i="0" u="none" strike="noStrike" cap="none" dirty="0">
                <a:solidFill>
                  <a:srgbClr val="C00000"/>
                </a:solidFill>
                <a:latin typeface="Times New Roman"/>
                <a:ea typeface="Times New Roman"/>
                <a:cs typeface="Times New Roman"/>
                <a:sym typeface="Times New Roman"/>
              </a:rPr>
              <a:t>. RESULT</a:t>
            </a:r>
            <a:endParaRPr dirty="0"/>
          </a:p>
        </p:txBody>
      </p:sp>
      <p:sp>
        <p:nvSpPr>
          <p:cNvPr id="119" name="Google Shape;119;p12"/>
          <p:cNvSpPr txBox="1"/>
          <p:nvPr/>
        </p:nvSpPr>
        <p:spPr>
          <a:xfrm>
            <a:off x="1379346" y="6104088"/>
            <a:ext cx="7378753" cy="672897"/>
          </a:xfrm>
          <a:prstGeom prst="rect">
            <a:avLst/>
          </a:prstGeom>
          <a:noFill/>
          <a:ln>
            <a:noFill/>
          </a:ln>
        </p:spPr>
        <p:txBody>
          <a:bodyPr spcFirstLastPara="1" wrap="square" lIns="0" tIns="12700" rIns="0" bIns="0" anchor="t" anchorCtr="0">
            <a:noAutofit/>
          </a:bodyPr>
          <a:lstStyle/>
          <a:p>
            <a:pPr marL="12700" marR="0" lvl="0" indent="0" algn="ctr" rtl="0">
              <a:lnSpc>
                <a:spcPct val="100000"/>
              </a:lnSpc>
              <a:spcBef>
                <a:spcPts val="0"/>
              </a:spcBef>
              <a:spcAft>
                <a:spcPts val="0"/>
              </a:spcAft>
              <a:buClr>
                <a:srgbClr val="000000"/>
              </a:buClr>
              <a:buSzPts val="1800"/>
              <a:buFont typeface="Arial"/>
              <a:buNone/>
            </a:pPr>
            <a:r>
              <a:rPr lang="en-US" sz="1800" b="1" i="1" u="none" strike="noStrike" cap="none">
                <a:solidFill>
                  <a:srgbClr val="C00000"/>
                </a:solidFill>
                <a:latin typeface="Times New Roman"/>
                <a:ea typeface="Times New Roman"/>
                <a:cs typeface="Times New Roman"/>
                <a:sym typeface="Times New Roman"/>
              </a:rPr>
              <a:t>Department of Computer Science &amp; Engineering, MITSoE, Loni Kalbhor</a:t>
            </a:r>
            <a:endParaRPr sz="1800" b="1" i="1" u="none" strike="noStrike" cap="none">
              <a:solidFill>
                <a:srgbClr val="C00000"/>
              </a:solidFill>
              <a:latin typeface="Times New Roman"/>
              <a:ea typeface="Times New Roman"/>
              <a:cs typeface="Times New Roman"/>
              <a:sym typeface="Times New Roman"/>
            </a:endParaRPr>
          </a:p>
        </p:txBody>
      </p:sp>
      <p:pic>
        <p:nvPicPr>
          <p:cNvPr id="120" name="Google Shape;120;p12"/>
          <p:cNvPicPr preferRelativeResize="0"/>
          <p:nvPr/>
        </p:nvPicPr>
        <p:blipFill rotWithShape="1">
          <a:blip r:embed="rId3">
            <a:alphaModFix/>
          </a:blip>
          <a:srcRect/>
          <a:stretch/>
        </p:blipFill>
        <p:spPr>
          <a:xfrm>
            <a:off x="0" y="5812967"/>
            <a:ext cx="999854" cy="1020451"/>
          </a:xfrm>
          <a:prstGeom prst="rect">
            <a:avLst/>
          </a:prstGeom>
          <a:noFill/>
          <a:ln>
            <a:noFill/>
          </a:ln>
        </p:spPr>
      </p:pic>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00336" y="926771"/>
            <a:ext cx="3526971" cy="393751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3" name="Picture 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17094" y="1007706"/>
            <a:ext cx="3965510" cy="363893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14"/>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SzPts val="1800"/>
              <a:buNone/>
            </a:pPr>
            <a:fld id="{00000000-1234-1234-1234-123412341234}" type="slidenum">
              <a:rPr lang="en-US"/>
              <a:t>10</a:t>
            </a:fld>
            <a:endParaRPr/>
          </a:p>
        </p:txBody>
      </p:sp>
      <p:sp>
        <p:nvSpPr>
          <p:cNvPr id="135" name="Google Shape;135;p14"/>
          <p:cNvSpPr txBox="1"/>
          <p:nvPr/>
        </p:nvSpPr>
        <p:spPr>
          <a:xfrm>
            <a:off x="417094" y="224589"/>
            <a:ext cx="8010213" cy="5780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n-US" sz="2800" b="1" dirty="0">
                <a:solidFill>
                  <a:srgbClr val="C00000"/>
                </a:solidFill>
                <a:latin typeface="Times New Roman"/>
                <a:ea typeface="Times New Roman"/>
                <a:cs typeface="Times New Roman"/>
                <a:sym typeface="Times New Roman"/>
              </a:rPr>
              <a:t>8</a:t>
            </a:r>
            <a:r>
              <a:rPr lang="en-US" sz="2800" b="1" i="0" u="none" strike="noStrike" cap="none" dirty="0">
                <a:solidFill>
                  <a:srgbClr val="C00000"/>
                </a:solidFill>
                <a:latin typeface="Times New Roman"/>
                <a:ea typeface="Times New Roman"/>
                <a:cs typeface="Times New Roman"/>
                <a:sym typeface="Times New Roman"/>
              </a:rPr>
              <a:t>. Conclusion and Future Work</a:t>
            </a:r>
            <a:r>
              <a:rPr lang="en-US" sz="2200" b="0" i="0" u="none" strike="noStrike" cap="none" dirty="0">
                <a:solidFill>
                  <a:srgbClr val="C00000"/>
                </a:solidFill>
                <a:latin typeface="Times New Roman"/>
                <a:ea typeface="Times New Roman"/>
                <a:cs typeface="Times New Roman"/>
                <a:sym typeface="Times New Roman"/>
              </a:rPr>
              <a:t> </a:t>
            </a:r>
            <a:endParaRPr dirty="0"/>
          </a:p>
        </p:txBody>
      </p:sp>
      <p:sp>
        <p:nvSpPr>
          <p:cNvPr id="136" name="Google Shape;136;p14"/>
          <p:cNvSpPr txBox="1"/>
          <p:nvPr/>
        </p:nvSpPr>
        <p:spPr>
          <a:xfrm>
            <a:off x="1379346" y="6104088"/>
            <a:ext cx="7378753" cy="672897"/>
          </a:xfrm>
          <a:prstGeom prst="rect">
            <a:avLst/>
          </a:prstGeom>
          <a:noFill/>
          <a:ln>
            <a:noFill/>
          </a:ln>
        </p:spPr>
        <p:txBody>
          <a:bodyPr spcFirstLastPara="1" wrap="square" lIns="0" tIns="12700" rIns="0" bIns="0" anchor="t" anchorCtr="0">
            <a:noAutofit/>
          </a:bodyPr>
          <a:lstStyle/>
          <a:p>
            <a:pPr marL="12700" marR="0" lvl="0" indent="0" algn="ctr" rtl="0">
              <a:lnSpc>
                <a:spcPct val="100000"/>
              </a:lnSpc>
              <a:spcBef>
                <a:spcPts val="0"/>
              </a:spcBef>
              <a:spcAft>
                <a:spcPts val="0"/>
              </a:spcAft>
              <a:buClr>
                <a:srgbClr val="000000"/>
              </a:buClr>
              <a:buSzPts val="1800"/>
              <a:buFont typeface="Arial"/>
              <a:buNone/>
            </a:pPr>
            <a:r>
              <a:rPr lang="en-US" sz="1800" b="1" i="1" u="none" strike="noStrike" cap="none">
                <a:solidFill>
                  <a:srgbClr val="C00000"/>
                </a:solidFill>
                <a:latin typeface="Times New Roman"/>
                <a:ea typeface="Times New Roman"/>
                <a:cs typeface="Times New Roman"/>
                <a:sym typeface="Times New Roman"/>
              </a:rPr>
              <a:t>Department of Computer Science &amp; Engineering, MITSoE, Loni Kalbhor</a:t>
            </a:r>
            <a:endParaRPr sz="1800" b="1" i="1" u="none" strike="noStrike" cap="none">
              <a:solidFill>
                <a:srgbClr val="C00000"/>
              </a:solidFill>
              <a:latin typeface="Times New Roman"/>
              <a:ea typeface="Times New Roman"/>
              <a:cs typeface="Times New Roman"/>
              <a:sym typeface="Times New Roman"/>
            </a:endParaRPr>
          </a:p>
        </p:txBody>
      </p:sp>
      <p:pic>
        <p:nvPicPr>
          <p:cNvPr id="137" name="Google Shape;137;p14"/>
          <p:cNvPicPr preferRelativeResize="0"/>
          <p:nvPr/>
        </p:nvPicPr>
        <p:blipFill rotWithShape="1">
          <a:blip r:embed="rId3">
            <a:alphaModFix/>
          </a:blip>
          <a:srcRect/>
          <a:stretch/>
        </p:blipFill>
        <p:spPr>
          <a:xfrm>
            <a:off x="0" y="5812967"/>
            <a:ext cx="999854" cy="1020451"/>
          </a:xfrm>
          <a:prstGeom prst="rect">
            <a:avLst/>
          </a:prstGeom>
          <a:noFill/>
          <a:ln>
            <a:noFill/>
          </a:ln>
        </p:spPr>
      </p:pic>
      <p:sp>
        <p:nvSpPr>
          <p:cNvPr id="138" name="Google Shape;138;p14"/>
          <p:cNvSpPr txBox="1"/>
          <p:nvPr/>
        </p:nvSpPr>
        <p:spPr>
          <a:xfrm>
            <a:off x="571850" y="988150"/>
            <a:ext cx="7843200" cy="4278300"/>
          </a:xfrm>
          <a:prstGeom prst="rect">
            <a:avLst/>
          </a:prstGeom>
          <a:noFill/>
          <a:ln>
            <a:noFill/>
          </a:ln>
        </p:spPr>
        <p:txBody>
          <a:bodyPr spcFirstLastPara="1" wrap="square" lIns="91425" tIns="91425" rIns="91425" bIns="91425" anchor="t" anchorCtr="0">
            <a:noAutofit/>
          </a:bodyPr>
          <a:lstStyle/>
          <a:p>
            <a:r>
              <a:rPr lang="en-US" b="1" dirty="0">
                <a:latin typeface="Times New Roman" panose="02020603050405020304" pitchFamily="18" charset="0"/>
                <a:cs typeface="Times New Roman" panose="02020603050405020304" pitchFamily="18" charset="0"/>
              </a:rPr>
              <a:t>Conclusion:</a:t>
            </a:r>
          </a:p>
          <a:p>
            <a:r>
              <a:rPr lang="en-US" dirty="0">
                <a:latin typeface="Times New Roman" panose="02020603050405020304" pitchFamily="18" charset="0"/>
                <a:cs typeface="Times New Roman" panose="02020603050405020304" pitchFamily="18" charset="0"/>
              </a:rPr>
              <a:t>The Hand Gesture Presentation System offers a smart and interactive way to control presentations using natural hand movements. By eliminating the need for physical input devices, it enhances the speaker's freedom and improves audience engagement. Using tools like </a:t>
            </a:r>
            <a:r>
              <a:rPr lang="en-US" dirty="0" err="1">
                <a:latin typeface="Times New Roman" panose="02020603050405020304" pitchFamily="18" charset="0"/>
                <a:cs typeface="Times New Roman" panose="02020603050405020304" pitchFamily="18" charset="0"/>
              </a:rPr>
              <a:t>OpenCV</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MediaPipe</a:t>
            </a:r>
            <a:r>
              <a:rPr lang="en-US" dirty="0">
                <a:latin typeface="Times New Roman" panose="02020603050405020304" pitchFamily="18" charset="0"/>
                <a:cs typeface="Times New Roman" panose="02020603050405020304" pitchFamily="18" charset="0"/>
              </a:rPr>
              <a:t>, and </a:t>
            </a:r>
            <a:r>
              <a:rPr lang="en-US" dirty="0" err="1">
                <a:latin typeface="Times New Roman" panose="02020603050405020304" pitchFamily="18" charset="0"/>
                <a:cs typeface="Times New Roman" panose="02020603050405020304" pitchFamily="18" charset="0"/>
              </a:rPr>
              <a:t>PyAutoGUI</a:t>
            </a:r>
            <a:r>
              <a:rPr lang="en-US" dirty="0">
                <a:latin typeface="Times New Roman" panose="02020603050405020304" pitchFamily="18" charset="0"/>
                <a:cs typeface="Times New Roman" panose="02020603050405020304" pitchFamily="18" charset="0"/>
              </a:rPr>
              <a:t>, the system effectively detects and interprets gestures in real-time. This technology provides a hygienic, accessible, and modern solution for various environments such as classrooms, conferences, and public presentations.</a:t>
            </a:r>
          </a:p>
          <a:p>
            <a:pPr marL="0" lvl="0" indent="0" algn="l" rtl="0">
              <a:spcBef>
                <a:spcPts val="0"/>
              </a:spcBef>
              <a:spcAft>
                <a:spcPts val="0"/>
              </a:spcAft>
              <a:buNone/>
            </a:pPr>
            <a:endParaRPr lang="en-IN" dirty="0">
              <a:latin typeface="Times New Roman" panose="02020603050405020304" pitchFamily="18" charset="0"/>
              <a:ea typeface="Poppins"/>
              <a:cs typeface="Times New Roman" panose="02020603050405020304" pitchFamily="18" charset="0"/>
              <a:sym typeface="Poppins"/>
            </a:endParaRPr>
          </a:p>
          <a:p>
            <a:r>
              <a:rPr lang="en-US" b="1" dirty="0">
                <a:latin typeface="Times New Roman" panose="02020603050405020304" pitchFamily="18" charset="0"/>
                <a:cs typeface="Times New Roman" panose="02020603050405020304" pitchFamily="18" charset="0"/>
              </a:rPr>
              <a:t>Future Work:</a:t>
            </a:r>
          </a:p>
          <a:p>
            <a:r>
              <a:rPr lang="en-US" b="1" dirty="0">
                <a:latin typeface="Times New Roman" panose="02020603050405020304" pitchFamily="18" charset="0"/>
                <a:cs typeface="Times New Roman" panose="02020603050405020304" pitchFamily="18" charset="0"/>
              </a:rPr>
              <a:t>Gesture Customization:</a:t>
            </a:r>
            <a:r>
              <a:rPr lang="en-US" dirty="0">
                <a:latin typeface="Times New Roman" panose="02020603050405020304" pitchFamily="18" charset="0"/>
                <a:cs typeface="Times New Roman" panose="02020603050405020304" pitchFamily="18" charset="0"/>
              </a:rPr>
              <a:t> Allow users to define and train their own custom gestures for different commands.</a:t>
            </a:r>
          </a:p>
          <a:p>
            <a:r>
              <a:rPr lang="en-US" b="1" dirty="0">
                <a:latin typeface="Times New Roman" panose="02020603050405020304" pitchFamily="18" charset="0"/>
                <a:cs typeface="Times New Roman" panose="02020603050405020304" pitchFamily="18" charset="0"/>
              </a:rPr>
              <a:t>Voice Integration:</a:t>
            </a:r>
            <a:r>
              <a:rPr lang="en-US" dirty="0">
                <a:latin typeface="Times New Roman" panose="02020603050405020304" pitchFamily="18" charset="0"/>
                <a:cs typeface="Times New Roman" panose="02020603050405020304" pitchFamily="18" charset="0"/>
              </a:rPr>
              <a:t> Combine hand gestures with voice recognition for hybrid, multimodal control.</a:t>
            </a:r>
          </a:p>
          <a:p>
            <a:r>
              <a:rPr lang="en-US" b="1" dirty="0">
                <a:latin typeface="Times New Roman" panose="02020603050405020304" pitchFamily="18" charset="0"/>
                <a:cs typeface="Times New Roman" panose="02020603050405020304" pitchFamily="18" charset="0"/>
              </a:rPr>
              <a:t>Robustness Improvement:</a:t>
            </a:r>
            <a:r>
              <a:rPr lang="en-US" dirty="0">
                <a:latin typeface="Times New Roman" panose="02020603050405020304" pitchFamily="18" charset="0"/>
                <a:cs typeface="Times New Roman" panose="02020603050405020304" pitchFamily="18" charset="0"/>
              </a:rPr>
              <a:t> Improve detection accuracy under different lighting conditions and backgrounds.</a:t>
            </a:r>
          </a:p>
          <a:p>
            <a:r>
              <a:rPr lang="en-US" b="1" dirty="0">
                <a:latin typeface="Times New Roman" panose="02020603050405020304" pitchFamily="18" charset="0"/>
                <a:cs typeface="Times New Roman" panose="02020603050405020304" pitchFamily="18" charset="0"/>
              </a:rPr>
              <a:t>Multi-User Support:</a:t>
            </a:r>
            <a:r>
              <a:rPr lang="en-US" dirty="0">
                <a:latin typeface="Times New Roman" panose="02020603050405020304" pitchFamily="18" charset="0"/>
                <a:cs typeface="Times New Roman" panose="02020603050405020304" pitchFamily="18" charset="0"/>
              </a:rPr>
              <a:t> Extend functionality to detect and differentiate gestures from multiple users in collaborative settings.</a:t>
            </a:r>
          </a:p>
          <a:p>
            <a:r>
              <a:rPr lang="en-US" b="1" dirty="0">
                <a:latin typeface="Times New Roman" panose="02020603050405020304" pitchFamily="18" charset="0"/>
                <a:cs typeface="Times New Roman" panose="02020603050405020304" pitchFamily="18" charset="0"/>
              </a:rPr>
              <a:t>Cross-Platform Compatibility:</a:t>
            </a:r>
            <a:r>
              <a:rPr lang="en-US" dirty="0">
                <a:latin typeface="Times New Roman" panose="02020603050405020304" pitchFamily="18" charset="0"/>
                <a:cs typeface="Times New Roman" panose="02020603050405020304" pitchFamily="18" charset="0"/>
              </a:rPr>
              <a:t> Adapt the system to work on mobile platforms, web apps, or AR/VR environments.</a:t>
            </a:r>
          </a:p>
          <a:p>
            <a:pPr marL="0" lvl="0" indent="0" algn="l" rtl="0">
              <a:spcBef>
                <a:spcPts val="0"/>
              </a:spcBef>
              <a:spcAft>
                <a:spcPts val="0"/>
              </a:spcAft>
              <a:buNone/>
            </a:pPr>
            <a:endParaRPr dirty="0">
              <a:latin typeface="Times New Roman" panose="02020603050405020304" pitchFamily="18" charset="0"/>
              <a:ea typeface="Poppins"/>
              <a:cs typeface="Times New Roman" panose="02020603050405020304" pitchFamily="18" charset="0"/>
              <a:sym typeface="Poppin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4" name="Google Shape;144;g5cc8714c89_2_35"/>
          <p:cNvSpPr txBox="1"/>
          <p:nvPr/>
        </p:nvSpPr>
        <p:spPr>
          <a:xfrm>
            <a:off x="375529" y="-1"/>
            <a:ext cx="2874298" cy="729049"/>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4000"/>
              <a:buFont typeface="Arial"/>
              <a:buNone/>
            </a:pPr>
            <a:r>
              <a:rPr lang="en-US" sz="4000" b="1" i="0" u="none" strike="noStrike" cap="none">
                <a:solidFill>
                  <a:srgbClr val="C00000"/>
                </a:solidFill>
                <a:latin typeface="Times New Roman"/>
                <a:ea typeface="Times New Roman"/>
                <a:cs typeface="Times New Roman"/>
                <a:sym typeface="Times New Roman"/>
              </a:rPr>
              <a:t>References</a:t>
            </a:r>
            <a:endParaRPr/>
          </a:p>
        </p:txBody>
      </p:sp>
      <p:sp>
        <p:nvSpPr>
          <p:cNvPr id="145" name="Google Shape;145;g5cc8714c89_2_35"/>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SzPts val="1800"/>
              <a:buNone/>
            </a:pPr>
            <a:fld id="{00000000-1234-1234-1234-123412341234}" type="slidenum">
              <a:rPr lang="en-US"/>
              <a:t>11</a:t>
            </a:fld>
            <a:endParaRPr/>
          </a:p>
        </p:txBody>
      </p:sp>
      <p:sp>
        <p:nvSpPr>
          <p:cNvPr id="146" name="Google Shape;146;g5cc8714c89_2_35"/>
          <p:cNvSpPr txBox="1"/>
          <p:nvPr/>
        </p:nvSpPr>
        <p:spPr>
          <a:xfrm>
            <a:off x="1379346" y="6055962"/>
            <a:ext cx="7378753" cy="672897"/>
          </a:xfrm>
          <a:prstGeom prst="rect">
            <a:avLst/>
          </a:prstGeom>
          <a:noFill/>
          <a:ln>
            <a:noFill/>
          </a:ln>
        </p:spPr>
        <p:txBody>
          <a:bodyPr spcFirstLastPara="1" wrap="square" lIns="0" tIns="12700" rIns="0" bIns="0" anchor="t" anchorCtr="0">
            <a:noAutofit/>
          </a:bodyPr>
          <a:lstStyle/>
          <a:p>
            <a:pPr marL="12700" marR="0" lvl="0" indent="0" algn="ctr" rtl="0">
              <a:lnSpc>
                <a:spcPct val="100000"/>
              </a:lnSpc>
              <a:spcBef>
                <a:spcPts val="0"/>
              </a:spcBef>
              <a:spcAft>
                <a:spcPts val="0"/>
              </a:spcAft>
              <a:buClr>
                <a:srgbClr val="000000"/>
              </a:buClr>
              <a:buSzPts val="1800"/>
              <a:buFont typeface="Arial"/>
              <a:buNone/>
            </a:pPr>
            <a:r>
              <a:rPr lang="en-US" sz="1800" b="1" i="1" u="none" strike="noStrike" cap="none">
                <a:solidFill>
                  <a:srgbClr val="C00000"/>
                </a:solidFill>
                <a:latin typeface="Times New Roman"/>
                <a:ea typeface="Times New Roman"/>
                <a:cs typeface="Times New Roman"/>
                <a:sym typeface="Times New Roman"/>
              </a:rPr>
              <a:t>Department of Computer Science &amp; Engineering, MITSoE, Loni Kalbhor</a:t>
            </a:r>
            <a:endParaRPr sz="1800" b="1" i="1" u="none" strike="noStrike" cap="none">
              <a:solidFill>
                <a:srgbClr val="C00000"/>
              </a:solidFill>
              <a:latin typeface="Times New Roman"/>
              <a:ea typeface="Times New Roman"/>
              <a:cs typeface="Times New Roman"/>
              <a:sym typeface="Times New Roman"/>
            </a:endParaRPr>
          </a:p>
        </p:txBody>
      </p:sp>
      <p:pic>
        <p:nvPicPr>
          <p:cNvPr id="147" name="Google Shape;147;g5cc8714c89_2_35"/>
          <p:cNvPicPr preferRelativeResize="0"/>
          <p:nvPr/>
        </p:nvPicPr>
        <p:blipFill rotWithShape="1">
          <a:blip r:embed="rId3">
            <a:alphaModFix/>
          </a:blip>
          <a:srcRect/>
          <a:stretch/>
        </p:blipFill>
        <p:spPr>
          <a:xfrm>
            <a:off x="0" y="5812967"/>
            <a:ext cx="999854" cy="1020451"/>
          </a:xfrm>
          <a:prstGeom prst="rect">
            <a:avLst/>
          </a:prstGeom>
          <a:noFill/>
          <a:ln>
            <a:noFill/>
          </a:ln>
        </p:spPr>
      </p:pic>
      <p:sp>
        <p:nvSpPr>
          <p:cNvPr id="2" name="Text Placeholder 1"/>
          <p:cNvSpPr>
            <a:spLocks noGrp="1" noChangeArrowheads="1"/>
          </p:cNvSpPr>
          <p:nvPr>
            <p:ph type="body" idx="1"/>
          </p:nvPr>
        </p:nvSpPr>
        <p:spPr bwMode="auto">
          <a:xfrm>
            <a:off x="97778" y="1038924"/>
            <a:ext cx="7696200"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Font typeface="+mj-lt"/>
              <a:buAutoNum type="arabicPeriod"/>
            </a:pPr>
            <a:r>
              <a:rPr lang="en-IN" sz="1600" dirty="0">
                <a:latin typeface="Times New Roman" panose="02020603050405020304" pitchFamily="18" charset="0"/>
                <a:cs typeface="Times New Roman" panose="02020603050405020304" pitchFamily="18" charset="0"/>
              </a:rPr>
              <a:t>Sharma, R., Verma, A., &amp; Mehta, P. (2020). </a:t>
            </a:r>
            <a:r>
              <a:rPr lang="en-IN" sz="1600" i="1" dirty="0">
                <a:latin typeface="Times New Roman" panose="02020603050405020304" pitchFamily="18" charset="0"/>
                <a:cs typeface="Times New Roman" panose="02020603050405020304" pitchFamily="18" charset="0"/>
              </a:rPr>
              <a:t>AI-powered contactless interface for smart classrooms</a:t>
            </a:r>
            <a:r>
              <a:rPr lang="en-IN" sz="1600" dirty="0">
                <a:latin typeface="Times New Roman" panose="02020603050405020304" pitchFamily="18" charset="0"/>
                <a:cs typeface="Times New Roman" panose="02020603050405020304" pitchFamily="18" charset="0"/>
              </a:rPr>
              <a:t>. International Journal of Smart Education Systems, 5(2), 45–52.</a:t>
            </a:r>
          </a:p>
          <a:p>
            <a:pPr>
              <a:buFont typeface="+mj-lt"/>
              <a:buAutoNum type="arabicPeriod"/>
            </a:pPr>
            <a:endParaRPr lang="en-IN" sz="1600" dirty="0">
              <a:latin typeface="Times New Roman" panose="02020603050405020304" pitchFamily="18" charset="0"/>
              <a:cs typeface="Times New Roman" panose="02020603050405020304" pitchFamily="18" charset="0"/>
            </a:endParaRPr>
          </a:p>
          <a:p>
            <a:pPr>
              <a:buFont typeface="+mj-lt"/>
              <a:buAutoNum type="arabicPeriod"/>
            </a:pPr>
            <a:r>
              <a:rPr lang="en-IN" sz="1600" dirty="0">
                <a:latin typeface="Times New Roman" panose="02020603050405020304" pitchFamily="18" charset="0"/>
                <a:cs typeface="Times New Roman" panose="02020603050405020304" pitchFamily="18" charset="0"/>
              </a:rPr>
              <a:t>Patel, H., Joshi, N., &amp; Bhandari, A. (2022). </a:t>
            </a:r>
            <a:r>
              <a:rPr lang="en-IN" sz="1600" i="1" dirty="0">
                <a:latin typeface="Times New Roman" panose="02020603050405020304" pitchFamily="18" charset="0"/>
                <a:cs typeface="Times New Roman" panose="02020603050405020304" pitchFamily="18" charset="0"/>
              </a:rPr>
              <a:t>Real-time hand gesture recognition for touchless presentation control using </a:t>
            </a:r>
            <a:r>
              <a:rPr lang="en-IN" sz="1600" i="1" dirty="0" err="1">
                <a:latin typeface="Times New Roman" panose="02020603050405020304" pitchFamily="18" charset="0"/>
                <a:cs typeface="Times New Roman" panose="02020603050405020304" pitchFamily="18" charset="0"/>
              </a:rPr>
              <a:t>MediaPipe</a:t>
            </a:r>
            <a:r>
              <a:rPr lang="en-IN" sz="1600" dirty="0">
                <a:latin typeface="Times New Roman" panose="02020603050405020304" pitchFamily="18" charset="0"/>
                <a:cs typeface="Times New Roman" panose="02020603050405020304" pitchFamily="18" charset="0"/>
              </a:rPr>
              <a:t>. Proceedings of the 3rd International Conference on Intelligent Computing and Control Systems (ICICCS), 321–327.</a:t>
            </a:r>
          </a:p>
          <a:p>
            <a:pPr>
              <a:buFont typeface="+mj-lt"/>
              <a:buAutoNum type="arabicPeriod"/>
            </a:pPr>
            <a:endParaRPr lang="en-IN" sz="1600" dirty="0">
              <a:latin typeface="Times New Roman" panose="02020603050405020304" pitchFamily="18" charset="0"/>
              <a:cs typeface="Times New Roman" panose="02020603050405020304" pitchFamily="18" charset="0"/>
            </a:endParaRPr>
          </a:p>
          <a:p>
            <a:pPr>
              <a:buFont typeface="+mj-lt"/>
              <a:buAutoNum type="arabicPeriod"/>
            </a:pPr>
            <a:r>
              <a:rPr lang="en-IN" sz="1600" dirty="0">
                <a:latin typeface="Times New Roman" panose="02020603050405020304" pitchFamily="18" charset="0"/>
                <a:cs typeface="Times New Roman" panose="02020603050405020304" pitchFamily="18" charset="0"/>
              </a:rPr>
              <a:t>Reddy, S., Nair, K., &amp; Sharma, R. (2023). </a:t>
            </a:r>
            <a:r>
              <a:rPr lang="en-IN" sz="1600" i="1" dirty="0">
                <a:latin typeface="Times New Roman" panose="02020603050405020304" pitchFamily="18" charset="0"/>
                <a:cs typeface="Times New Roman" panose="02020603050405020304" pitchFamily="18" charset="0"/>
              </a:rPr>
              <a:t>Gesture recognition-based smart presentation system using YOLO and OpenCV</a:t>
            </a:r>
            <a:r>
              <a:rPr lang="en-IN" sz="1600" dirty="0">
                <a:latin typeface="Times New Roman" panose="02020603050405020304" pitchFamily="18" charset="0"/>
                <a:cs typeface="Times New Roman" panose="02020603050405020304" pitchFamily="18" charset="0"/>
              </a:rPr>
              <a:t>. Journal of Artificial Intelligence and Computer Vision, 11(1), 88–96.</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16"/>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SzPts val="1800"/>
              <a:buNone/>
            </a:pPr>
            <a:fld id="{00000000-1234-1234-1234-123412341234}" type="slidenum">
              <a:rPr lang="en-US"/>
              <a:t>12</a:t>
            </a:fld>
            <a:endParaRPr/>
          </a:p>
        </p:txBody>
      </p:sp>
      <p:sp>
        <p:nvSpPr>
          <p:cNvPr id="153" name="Google Shape;153;p16"/>
          <p:cNvSpPr txBox="1"/>
          <p:nvPr/>
        </p:nvSpPr>
        <p:spPr>
          <a:xfrm>
            <a:off x="1379346" y="6055962"/>
            <a:ext cx="7378753" cy="672897"/>
          </a:xfrm>
          <a:prstGeom prst="rect">
            <a:avLst/>
          </a:prstGeom>
          <a:noFill/>
          <a:ln>
            <a:noFill/>
          </a:ln>
        </p:spPr>
        <p:txBody>
          <a:bodyPr spcFirstLastPara="1" wrap="square" lIns="0" tIns="12700" rIns="0" bIns="0" anchor="t" anchorCtr="0">
            <a:noAutofit/>
          </a:bodyPr>
          <a:lstStyle/>
          <a:p>
            <a:pPr marL="12700" marR="0" lvl="0" indent="0" algn="ctr" rtl="0">
              <a:lnSpc>
                <a:spcPct val="100000"/>
              </a:lnSpc>
              <a:spcBef>
                <a:spcPts val="0"/>
              </a:spcBef>
              <a:spcAft>
                <a:spcPts val="0"/>
              </a:spcAft>
              <a:buClr>
                <a:srgbClr val="000000"/>
              </a:buClr>
              <a:buSzPts val="1800"/>
              <a:buFont typeface="Arial"/>
              <a:buNone/>
            </a:pPr>
            <a:r>
              <a:rPr lang="en-US" sz="1800" b="1" i="1" u="none" strike="noStrike" cap="none">
                <a:solidFill>
                  <a:srgbClr val="C00000"/>
                </a:solidFill>
                <a:latin typeface="Times New Roman"/>
                <a:ea typeface="Times New Roman"/>
                <a:cs typeface="Times New Roman"/>
                <a:sym typeface="Times New Roman"/>
              </a:rPr>
              <a:t>Department of Computer Science &amp; Engineering, MITSoE, Loni Kalbhor</a:t>
            </a:r>
            <a:endParaRPr sz="1800" b="1" i="1" u="none" strike="noStrike" cap="none">
              <a:solidFill>
                <a:srgbClr val="C00000"/>
              </a:solidFill>
              <a:latin typeface="Times New Roman"/>
              <a:ea typeface="Times New Roman"/>
              <a:cs typeface="Times New Roman"/>
              <a:sym typeface="Times New Roman"/>
            </a:endParaRPr>
          </a:p>
        </p:txBody>
      </p:sp>
      <p:sp>
        <p:nvSpPr>
          <p:cNvPr id="154" name="Google Shape;154;p16"/>
          <p:cNvSpPr/>
          <p:nvPr/>
        </p:nvSpPr>
        <p:spPr>
          <a:xfrm>
            <a:off x="1792145" y="2374230"/>
            <a:ext cx="5330550" cy="70788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4000" b="1" i="0" u="none" strike="noStrike" cap="none">
                <a:solidFill>
                  <a:srgbClr val="C00000"/>
                </a:solidFill>
                <a:latin typeface="Times New Roman"/>
                <a:ea typeface="Times New Roman"/>
                <a:cs typeface="Times New Roman"/>
                <a:sym typeface="Times New Roman"/>
              </a:rPr>
              <a:t>Thank You</a:t>
            </a:r>
            <a:endParaRPr/>
          </a:p>
        </p:txBody>
      </p:sp>
      <p:pic>
        <p:nvPicPr>
          <p:cNvPr id="155" name="Google Shape;155;p16"/>
          <p:cNvPicPr preferRelativeResize="0"/>
          <p:nvPr/>
        </p:nvPicPr>
        <p:blipFill rotWithShape="1">
          <a:blip r:embed="rId3">
            <a:alphaModFix/>
          </a:blip>
          <a:srcRect/>
          <a:stretch/>
        </p:blipFill>
        <p:spPr>
          <a:xfrm>
            <a:off x="0" y="5812967"/>
            <a:ext cx="999854" cy="102045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17"/>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SzPts val="1800"/>
              <a:buNone/>
            </a:pPr>
            <a:fld id="{00000000-1234-1234-1234-123412341234}" type="slidenum">
              <a:rPr lang="en-US"/>
              <a:t>13</a:t>
            </a:fld>
            <a:endParaRPr/>
          </a:p>
        </p:txBody>
      </p:sp>
      <p:sp>
        <p:nvSpPr>
          <p:cNvPr id="161" name="Google Shape;161;p17"/>
          <p:cNvSpPr txBox="1"/>
          <p:nvPr/>
        </p:nvSpPr>
        <p:spPr>
          <a:xfrm>
            <a:off x="1379346" y="6055962"/>
            <a:ext cx="7378753" cy="672897"/>
          </a:xfrm>
          <a:prstGeom prst="rect">
            <a:avLst/>
          </a:prstGeom>
          <a:noFill/>
          <a:ln>
            <a:noFill/>
          </a:ln>
        </p:spPr>
        <p:txBody>
          <a:bodyPr spcFirstLastPara="1" wrap="square" lIns="0" tIns="12700" rIns="0" bIns="0" anchor="t" anchorCtr="0">
            <a:noAutofit/>
          </a:bodyPr>
          <a:lstStyle/>
          <a:p>
            <a:pPr marL="12700" marR="0" lvl="0" indent="0" algn="ctr" rtl="0">
              <a:lnSpc>
                <a:spcPct val="100000"/>
              </a:lnSpc>
              <a:spcBef>
                <a:spcPts val="0"/>
              </a:spcBef>
              <a:spcAft>
                <a:spcPts val="0"/>
              </a:spcAft>
              <a:buClr>
                <a:srgbClr val="000000"/>
              </a:buClr>
              <a:buSzPts val="1800"/>
              <a:buFont typeface="Arial"/>
              <a:buNone/>
            </a:pPr>
            <a:r>
              <a:rPr lang="en-US" sz="1800" b="1" i="1" u="none" strike="noStrike" cap="none">
                <a:solidFill>
                  <a:srgbClr val="C00000"/>
                </a:solidFill>
                <a:latin typeface="Times New Roman"/>
                <a:ea typeface="Times New Roman"/>
                <a:cs typeface="Times New Roman"/>
                <a:sym typeface="Times New Roman"/>
              </a:rPr>
              <a:t>Department of Computer Science &amp; Engineering, MITSoE, Loni Kalbhor</a:t>
            </a:r>
            <a:endParaRPr sz="1800" b="1" i="1" u="none" strike="noStrike" cap="none">
              <a:solidFill>
                <a:srgbClr val="C00000"/>
              </a:solidFill>
              <a:latin typeface="Times New Roman"/>
              <a:ea typeface="Times New Roman"/>
              <a:cs typeface="Times New Roman"/>
              <a:sym typeface="Times New Roman"/>
            </a:endParaRPr>
          </a:p>
        </p:txBody>
      </p:sp>
      <p:sp>
        <p:nvSpPr>
          <p:cNvPr id="162" name="Google Shape;162;p17"/>
          <p:cNvSpPr/>
          <p:nvPr/>
        </p:nvSpPr>
        <p:spPr>
          <a:xfrm>
            <a:off x="1792145" y="2374230"/>
            <a:ext cx="5330550" cy="70788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4000" b="1" i="0" u="none" strike="noStrike" cap="none">
                <a:solidFill>
                  <a:srgbClr val="C00000"/>
                </a:solidFill>
                <a:latin typeface="Times New Roman"/>
                <a:ea typeface="Times New Roman"/>
                <a:cs typeface="Times New Roman"/>
                <a:sym typeface="Times New Roman"/>
              </a:rPr>
              <a:t>Questions</a:t>
            </a:r>
            <a:endParaRPr/>
          </a:p>
        </p:txBody>
      </p:sp>
      <p:pic>
        <p:nvPicPr>
          <p:cNvPr id="163" name="Google Shape;163;p17"/>
          <p:cNvPicPr preferRelativeResize="0"/>
          <p:nvPr/>
        </p:nvPicPr>
        <p:blipFill rotWithShape="1">
          <a:blip r:embed="rId3">
            <a:alphaModFix/>
          </a:blip>
          <a:srcRect/>
          <a:stretch/>
        </p:blipFill>
        <p:spPr>
          <a:xfrm>
            <a:off x="0" y="5812967"/>
            <a:ext cx="999854" cy="1020451"/>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41</TotalTime>
  <Words>1482</Words>
  <Application>Microsoft Office PowerPoint</Application>
  <PresentationFormat>On-screen Show (4:3)</PresentationFormat>
  <Paragraphs>122</Paragraphs>
  <Slides>13</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Century Schoolbook</vt:lpstr>
      <vt:lpstr>Calibri</vt:lpstr>
      <vt:lpstr>Poppins</vt:lpstr>
      <vt:lpstr>Times New Roman</vt:lpstr>
      <vt:lpstr>Arial</vt:lpstr>
      <vt:lpstr>Office Theme</vt:lpstr>
      <vt:lpstr>" HAND-GESTURE-PRESENTATION-SYSTEM”</vt:lpstr>
      <vt:lpstr>Outline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HAND-GESTURE-PRESENTATION-SYSTEM”</dc:title>
  <dc:creator>Hp</dc:creator>
  <cp:lastModifiedBy>Shipra Raj</cp:lastModifiedBy>
  <cp:revision>7</cp:revision>
  <dcterms:created xsi:type="dcterms:W3CDTF">2018-12-06T11:05:22Z</dcterms:created>
  <dcterms:modified xsi:type="dcterms:W3CDTF">2025-10-11T11:45:21Z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2017-02-01T00:00:00Z</vt:filetime>
  </property>
  <property fmtid="{D5CDD505-2E9C-101B-9397-08002B2CF9AE}" pid="3" name="Creator">
    <vt:lpwstr>Microsoft® Office PowerPoint® 2007</vt:lpwstr>
  </property>
  <property fmtid="{D5CDD505-2E9C-101B-9397-08002B2CF9AE}" pid="4" name="LastSaved">
    <vt:filetime>2018-12-06T00:00:00Z</vt:filetime>
  </property>
</Properties>
</file>